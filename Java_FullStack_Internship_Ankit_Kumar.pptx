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1.png"/><Relationship Id="rId5" Type="http://schemas.openxmlformats.org/officeDocument/2006/relationships/image" Target="../media/image-9-1.png"/><Relationship Id="rId6" Type="http://schemas.openxmlformats.org/officeDocument/2006/relationships/image" Target="../media/image-9-1.png"/><Relationship Id="rId7" Type="http://schemas.openxmlformats.org/officeDocument/2006/relationships/image" Target="../media/image-9-1.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jp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607040" y="-1463040"/>
            <a:ext cx="3840480" cy="3840480"/>
          </a:xfrm>
          <a:prstGeom prst="ellipse">
            <a:avLst/>
          </a:prstGeom>
          <a:solidFill>
            <a:srgbClr val="242E6E"/>
          </a:solidFill>
          <a:ln/>
        </p:spPr>
      </p:sp>
      <p:sp>
        <p:nvSpPr>
          <p:cNvPr id="3" name="Shape 1"/>
          <p:cNvSpPr/>
          <p:nvPr/>
        </p:nvSpPr>
        <p:spPr>
          <a:xfrm>
            <a:off x="11521440" y="4572000"/>
            <a:ext cx="3291840" cy="3291840"/>
          </a:xfrm>
          <a:prstGeom prst="ellipse">
            <a:avLst/>
          </a:prstGeom>
          <a:solidFill>
            <a:srgbClr val="242E6E"/>
          </a:solidFill>
          <a:ln/>
        </p:spPr>
      </p:sp>
      <p:pic>
        <p:nvPicPr>
          <p:cNvPr id="4" name="Image 0" descr="/home/claude/extract/docx_extract/word/media/85e0c69f588ac5387122cb375b3d7dc9872c23e5.png">    </p:cNvPr>
          <p:cNvPicPr>
            <a:picLocks noChangeAspect="1"/>
          </p:cNvPicPr>
          <p:nvPr/>
        </p:nvPicPr>
        <p:blipFill>
          <a:blip r:embed="rId1"/>
          <a:stretch>
            <a:fillRect/>
          </a:stretch>
        </p:blipFill>
        <p:spPr>
          <a:xfrm>
            <a:off x="548640" y="502920"/>
            <a:ext cx="502920" cy="502920"/>
          </a:xfrm>
          <a:prstGeom prst="rect">
            <a:avLst/>
          </a:prstGeom>
        </p:spPr>
      </p:pic>
      <p:sp>
        <p:nvSpPr>
          <p:cNvPr id="5" name="Text 2"/>
          <p:cNvSpPr txBox="1"/>
          <p:nvPr/>
        </p:nvSpPr>
        <p:spPr>
          <a:xfrm>
            <a:off x="1188720" y="548640"/>
            <a:ext cx="548640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IILM UNIVERSITY, GREATER NOIDA</a:t>
            </a:r>
            <a:endParaRPr lang="en-US" sz="1300" dirty="0"/>
          </a:p>
        </p:txBody>
      </p:sp>
      <p:sp>
        <p:nvSpPr>
          <p:cNvPr id="6" name="Text 3"/>
          <p:cNvSpPr txBox="1"/>
          <p:nvPr/>
        </p:nvSpPr>
        <p:spPr>
          <a:xfrm>
            <a:off x="548640" y="2148840"/>
            <a:ext cx="7315200" cy="365760"/>
          </a:xfrm>
          <a:prstGeom prst="rect">
            <a:avLst/>
          </a:prstGeom>
          <a:noFill/>
          <a:ln/>
        </p:spPr>
        <p:txBody>
          <a:bodyPr wrap="square" lIns="0" tIns="0" rIns="0" bIns="0" rtlCol="0" anchor="ctr"/>
          <a:lstStyle/>
          <a:p>
            <a:pPr indent="0" marL="0">
              <a:buNone/>
            </a:pPr>
            <a:r>
              <a:rPr lang="en-US" sz="1300" b="1" spc="200" kern="0" dirty="0">
                <a:solidFill>
                  <a:srgbClr val="D4A24E"/>
                </a:solidFill>
                <a:latin typeface="Calibri" pitchFamily="34" charset="0"/>
                <a:ea typeface="Calibri" pitchFamily="34" charset="-122"/>
                <a:cs typeface="Calibri" pitchFamily="34" charset="-120"/>
              </a:rPr>
              <a:t>INTERNSHIP REPORT PRESENTATION</a:t>
            </a:r>
            <a:endParaRPr lang="en-US" sz="1300" dirty="0"/>
          </a:p>
        </p:txBody>
      </p:sp>
      <p:sp>
        <p:nvSpPr>
          <p:cNvPr id="7" name="Text 4"/>
          <p:cNvSpPr txBox="1"/>
          <p:nvPr/>
        </p:nvSpPr>
        <p:spPr>
          <a:xfrm>
            <a:off x="530352" y="2514600"/>
            <a:ext cx="9144000" cy="1005840"/>
          </a:xfrm>
          <a:prstGeom prst="rect">
            <a:avLst/>
          </a:prstGeom>
          <a:noFill/>
          <a:ln/>
        </p:spPr>
        <p:txBody>
          <a:bodyPr wrap="square" lIns="0" tIns="0" rIns="0" bIns="0" rtlCol="0" anchor="ctr"/>
          <a:lstStyle/>
          <a:p>
            <a:pPr indent="0" marL="0">
              <a:buNone/>
            </a:pPr>
            <a:r>
              <a:rPr lang="en-US" sz="4800" b="1" dirty="0">
                <a:solidFill>
                  <a:srgbClr val="FFFFFF"/>
                </a:solidFill>
                <a:latin typeface="Bookman Old Style" pitchFamily="34" charset="0"/>
                <a:ea typeface="Bookman Old Style" pitchFamily="34" charset="-122"/>
                <a:cs typeface="Bookman Old Style" pitchFamily="34" charset="-120"/>
              </a:rPr>
              <a:t>Java Full Stack Developer</a:t>
            </a:r>
            <a:endParaRPr lang="en-US" sz="4800" dirty="0"/>
          </a:p>
        </p:txBody>
      </p:sp>
      <p:sp>
        <p:nvSpPr>
          <p:cNvPr id="8" name="Text 5"/>
          <p:cNvSpPr txBox="1"/>
          <p:nvPr/>
        </p:nvSpPr>
        <p:spPr>
          <a:xfrm>
            <a:off x="548640" y="3337560"/>
            <a:ext cx="8229600" cy="640080"/>
          </a:xfrm>
          <a:prstGeom prst="rect">
            <a:avLst/>
          </a:prstGeom>
          <a:noFill/>
          <a:ln/>
        </p:spPr>
        <p:txBody>
          <a:bodyPr wrap="square" lIns="0" tIns="0" rIns="0" bIns="0" rtlCol="0" anchor="ctr"/>
          <a:lstStyle/>
          <a:p>
            <a:pPr indent="0" marL="0">
              <a:buNone/>
            </a:pPr>
            <a:r>
              <a:rPr lang="en-US" sz="2800" dirty="0">
                <a:solidFill>
                  <a:srgbClr val="CADCFC"/>
                </a:solidFill>
                <a:latin typeface="Bookman Old Style" pitchFamily="34" charset="0"/>
                <a:ea typeface="Bookman Old Style" pitchFamily="34" charset="-122"/>
                <a:cs typeface="Bookman Old Style" pitchFamily="34" charset="-120"/>
              </a:rPr>
              <a:t>Virtual Internship</a:t>
            </a:r>
            <a:endParaRPr lang="en-US" sz="2800" dirty="0"/>
          </a:p>
        </p:txBody>
      </p:sp>
      <p:sp>
        <p:nvSpPr>
          <p:cNvPr id="9" name="Text 6"/>
          <p:cNvSpPr txBox="1"/>
          <p:nvPr/>
        </p:nvSpPr>
        <p:spPr>
          <a:xfrm>
            <a:off x="548640" y="3977640"/>
            <a:ext cx="9144000" cy="365760"/>
          </a:xfrm>
          <a:prstGeom prst="rect">
            <a:avLst/>
          </a:prstGeom>
          <a:noFill/>
          <a:ln/>
        </p:spPr>
        <p:txBody>
          <a:bodyPr wrap="square" lIns="0" tIns="0" rIns="0" bIns="0" rtlCol="0" anchor="ctr"/>
          <a:lstStyle/>
          <a:p>
            <a:pPr indent="0" marL="0">
              <a:buNone/>
            </a:pPr>
            <a:r>
              <a:rPr lang="en-US" sz="1400" dirty="0">
                <a:solidFill>
                  <a:srgbClr val="AEB6DE"/>
                </a:solidFill>
                <a:latin typeface="Calibri" pitchFamily="34" charset="0"/>
                <a:ea typeface="Calibri" pitchFamily="34" charset="-122"/>
                <a:cs typeface="Calibri" pitchFamily="34" charset="-120"/>
              </a:rPr>
              <a:t>AICTE – EduSkills Virtual Internship Program  |  Domain: Java Full Stack Development</a:t>
            </a:r>
            <a:endParaRPr lang="en-US" sz="1400" dirty="0"/>
          </a:p>
        </p:txBody>
      </p:sp>
      <p:sp>
        <p:nvSpPr>
          <p:cNvPr id="10" name="Shape 7"/>
          <p:cNvSpPr/>
          <p:nvPr/>
        </p:nvSpPr>
        <p:spPr>
          <a:xfrm>
            <a:off x="566928" y="4617720"/>
            <a:ext cx="1188720" cy="0"/>
          </a:xfrm>
          <a:prstGeom prst="line">
            <a:avLst/>
          </a:prstGeom>
          <a:noFill/>
          <a:ln w="25400">
            <a:solidFill>
              <a:srgbClr val="D4A24E"/>
            </a:solidFill>
            <a:prstDash val="solid"/>
          </a:ln>
        </p:spPr>
      </p:sp>
      <p:sp>
        <p:nvSpPr>
          <p:cNvPr id="11" name="Text 8"/>
          <p:cNvSpPr txBox="1"/>
          <p:nvPr/>
        </p:nvSpPr>
        <p:spPr>
          <a:xfrm>
            <a:off x="548640" y="4800600"/>
            <a:ext cx="5486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Ankit Kumar</a:t>
            </a:r>
            <a:endParaRPr lang="en-US" sz="1800" dirty="0"/>
          </a:p>
        </p:txBody>
      </p:sp>
      <p:sp>
        <p:nvSpPr>
          <p:cNvPr id="12" name="Text 9"/>
          <p:cNvSpPr txBox="1"/>
          <p:nvPr/>
        </p:nvSpPr>
        <p:spPr>
          <a:xfrm>
            <a:off x="548640" y="5166360"/>
            <a:ext cx="5486400" cy="320040"/>
          </a:xfrm>
          <a:prstGeom prst="rect">
            <a:avLst/>
          </a:prstGeom>
          <a:noFill/>
          <a:ln/>
        </p:spPr>
        <p:txBody>
          <a:bodyPr wrap="square" lIns="0" tIns="0" rIns="0" bIns="0" rtlCol="0" anchor="ctr"/>
          <a:lstStyle/>
          <a:p>
            <a:pPr indent="0" marL="0">
              <a:buNone/>
            </a:pPr>
            <a:r>
              <a:rPr lang="en-US" sz="1200" dirty="0">
                <a:solidFill>
                  <a:srgbClr val="AEB6DE"/>
                </a:solidFill>
                <a:latin typeface="Calibri" pitchFamily="34" charset="0"/>
                <a:ea typeface="Calibri" pitchFamily="34" charset="-122"/>
                <a:cs typeface="Calibri" pitchFamily="34" charset="-120"/>
              </a:rPr>
              <a:t>Roll No. 2410031066  |  B.Tech CSE</a:t>
            </a:r>
            <a:endParaRPr lang="en-US" sz="1200" dirty="0"/>
          </a:p>
        </p:txBody>
      </p:sp>
      <p:sp>
        <p:nvSpPr>
          <p:cNvPr id="13" name="Text 10"/>
          <p:cNvSpPr txBox="1"/>
          <p:nvPr/>
        </p:nvSpPr>
        <p:spPr>
          <a:xfrm>
            <a:off x="548640" y="5440680"/>
            <a:ext cx="5486400" cy="320040"/>
          </a:xfrm>
          <a:prstGeom prst="rect">
            <a:avLst/>
          </a:prstGeom>
          <a:noFill/>
          <a:ln/>
        </p:spPr>
        <p:txBody>
          <a:bodyPr wrap="square" lIns="0" tIns="0" rIns="0" bIns="0" rtlCol="0" anchor="ctr"/>
          <a:lstStyle/>
          <a:p>
            <a:pPr indent="0" marL="0">
              <a:buNone/>
            </a:pPr>
            <a:r>
              <a:rPr lang="en-US" sz="1200" dirty="0">
                <a:solidFill>
                  <a:srgbClr val="AEB6DE"/>
                </a:solidFill>
                <a:latin typeface="Calibri" pitchFamily="34" charset="0"/>
                <a:ea typeface="Calibri" pitchFamily="34" charset="-122"/>
                <a:cs typeface="Calibri" pitchFamily="34" charset="-120"/>
              </a:rPr>
              <a:t>April – June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931920" cy="6858000"/>
          </a:xfrm>
          <a:prstGeom prst="rect">
            <a:avLst/>
          </a:prstGeom>
          <a:solidFill>
            <a:srgbClr val="1E2761"/>
          </a:solidFill>
          <a:ln/>
        </p:spPr>
      </p:sp>
      <p:sp>
        <p:nvSpPr>
          <p:cNvPr id="3" name="Shape 1"/>
          <p:cNvSpPr/>
          <p:nvPr/>
        </p:nvSpPr>
        <p:spPr>
          <a:xfrm>
            <a:off x="-1463040" y="5120640"/>
            <a:ext cx="3291840" cy="3291840"/>
          </a:xfrm>
          <a:prstGeom prst="ellipse">
            <a:avLst/>
          </a:prstGeom>
          <a:solidFill>
            <a:srgbClr val="242E6E"/>
          </a:solidFill>
          <a:ln/>
        </p:spPr>
      </p:sp>
      <p:sp>
        <p:nvSpPr>
          <p:cNvPr id="4" name="Shape 2"/>
          <p:cNvSpPr/>
          <p:nvPr/>
        </p:nvSpPr>
        <p:spPr>
          <a:xfrm>
            <a:off x="1417320" y="1371600"/>
            <a:ext cx="1097280" cy="1097280"/>
          </a:xfrm>
          <a:prstGeom prst="ellipse">
            <a:avLst/>
          </a:prstGeom>
          <a:solidFill>
            <a:srgbClr val="242E6E"/>
          </a:solidFill>
          <a:ln/>
        </p:spPr>
      </p:sp>
      <p:pic>
        <p:nvPicPr>
          <p:cNvPr id="5" name="Image 0" descr="/home/claude/icons/gradcap_white.png">    </p:cNvPr>
          <p:cNvPicPr>
            <a:picLocks noChangeAspect="1"/>
          </p:cNvPicPr>
          <p:nvPr/>
        </p:nvPicPr>
        <p:blipFill>
          <a:blip r:embed="rId1"/>
          <a:stretch>
            <a:fillRect/>
          </a:stretch>
        </p:blipFill>
        <p:spPr>
          <a:xfrm>
            <a:off x="1691640" y="1645920"/>
            <a:ext cx="548640" cy="548640"/>
          </a:xfrm>
          <a:prstGeom prst="rect">
            <a:avLst/>
          </a:prstGeom>
        </p:spPr>
      </p:pic>
      <p:sp>
        <p:nvSpPr>
          <p:cNvPr id="6" name="Text 3"/>
          <p:cNvSpPr txBox="1"/>
          <p:nvPr/>
        </p:nvSpPr>
        <p:spPr>
          <a:xfrm>
            <a:off x="274320" y="2743200"/>
            <a:ext cx="3383280" cy="1188720"/>
          </a:xfrm>
          <a:prstGeom prst="rect">
            <a:avLst/>
          </a:prstGeom>
          <a:noFill/>
          <a:ln/>
        </p:spPr>
        <p:txBody>
          <a:bodyPr wrap="square" lIns="0" tIns="0" rIns="0" bIns="0" rtlCol="0" anchor="ctr"/>
          <a:lstStyle/>
          <a:p>
            <a:pPr algn="ctr" indent="0" marL="0">
              <a:buNone/>
            </a:pPr>
            <a:r>
              <a:rPr lang="en-US" sz="3000" b="1" dirty="0">
                <a:solidFill>
                  <a:srgbClr val="FFFFFF"/>
                </a:solidFill>
                <a:latin typeface="Bookman Old Style" pitchFamily="34" charset="0"/>
                <a:ea typeface="Bookman Old Style" pitchFamily="34" charset="-122"/>
                <a:cs typeface="Bookman Old Style" pitchFamily="34" charset="-120"/>
              </a:rPr>
              <a:t>Ankit</a:t>
            </a:r>
            <a:endParaRPr lang="en-US" sz="3000" dirty="0"/>
          </a:p>
          <a:p>
            <a:pPr algn="ctr" indent="0" marL="0">
              <a:buNone/>
            </a:pPr>
            <a:r>
              <a:rPr lang="en-US" sz="3000" b="1" dirty="0">
                <a:solidFill>
                  <a:srgbClr val="FFFFFF"/>
                </a:solidFill>
                <a:latin typeface="Bookman Old Style" pitchFamily="34" charset="0"/>
                <a:ea typeface="Bookman Old Style" pitchFamily="34" charset="-122"/>
                <a:cs typeface="Bookman Old Style" pitchFamily="34" charset="-120"/>
              </a:rPr>
              <a:t>Kumar</a:t>
            </a:r>
            <a:endParaRPr lang="en-US" sz="3000" dirty="0"/>
          </a:p>
        </p:txBody>
      </p:sp>
      <p:sp>
        <p:nvSpPr>
          <p:cNvPr id="7" name="Text 4"/>
          <p:cNvSpPr txBox="1"/>
          <p:nvPr/>
        </p:nvSpPr>
        <p:spPr>
          <a:xfrm>
            <a:off x="274320" y="3886200"/>
            <a:ext cx="3383280" cy="548640"/>
          </a:xfrm>
          <a:prstGeom prst="rect">
            <a:avLst/>
          </a:prstGeom>
          <a:noFill/>
          <a:ln/>
        </p:spPr>
        <p:txBody>
          <a:bodyPr wrap="square" lIns="0" tIns="0" rIns="0" bIns="0" rtlCol="0" anchor="ctr"/>
          <a:lstStyle/>
          <a:p>
            <a:pPr algn="ctr" indent="0" marL="0">
              <a:buNone/>
            </a:pPr>
            <a:r>
              <a:rPr lang="en-US" sz="1200" dirty="0">
                <a:solidFill>
                  <a:srgbClr val="AEB6DE"/>
                </a:solidFill>
                <a:latin typeface="Calibri" pitchFamily="34" charset="0"/>
                <a:ea typeface="Calibri" pitchFamily="34" charset="-122"/>
                <a:cs typeface="Calibri" pitchFamily="34" charset="-120"/>
              </a:rPr>
              <a:t>B.Tech – Computer Science &amp; Engineering</a:t>
            </a:r>
            <a:endParaRPr lang="en-US" sz="1200" dirty="0"/>
          </a:p>
        </p:txBody>
      </p:sp>
      <p:sp>
        <p:nvSpPr>
          <p:cNvPr id="8" name="Text 5"/>
          <p:cNvSpPr txBox="1"/>
          <p:nvPr/>
        </p:nvSpPr>
        <p:spPr>
          <a:xfrm>
            <a:off x="4389120" y="50292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ABOUT THE STUDENT</a:t>
            </a:r>
            <a:endParaRPr lang="en-US" sz="1200" dirty="0"/>
          </a:p>
        </p:txBody>
      </p:sp>
      <p:sp>
        <p:nvSpPr>
          <p:cNvPr id="9" name="Text 6"/>
          <p:cNvSpPr txBox="1"/>
          <p:nvPr/>
        </p:nvSpPr>
        <p:spPr>
          <a:xfrm>
            <a:off x="4370832" y="822960"/>
            <a:ext cx="6858000" cy="640080"/>
          </a:xfrm>
          <a:prstGeom prst="rect">
            <a:avLst/>
          </a:prstGeom>
          <a:noFill/>
          <a:ln/>
        </p:spPr>
        <p:txBody>
          <a:bodyPr wrap="square" lIns="0" tIns="0" rIns="0" bIns="0" rtlCol="0" anchor="ctr"/>
          <a:lstStyle/>
          <a:p>
            <a:pPr indent="0" marL="0">
              <a:buNone/>
            </a:pPr>
            <a:r>
              <a:rPr lang="en-US" sz="3200" b="1" dirty="0">
                <a:solidFill>
                  <a:srgbClr val="1B2340"/>
                </a:solidFill>
                <a:latin typeface="Bookman Old Style" pitchFamily="34" charset="0"/>
                <a:ea typeface="Bookman Old Style" pitchFamily="34" charset="-122"/>
                <a:cs typeface="Bookman Old Style" pitchFamily="34" charset="-120"/>
              </a:rPr>
              <a:t>Candidate Profile</a:t>
            </a:r>
            <a:endParaRPr lang="en-US" sz="3200" dirty="0"/>
          </a:p>
        </p:txBody>
      </p:sp>
      <p:sp>
        <p:nvSpPr>
          <p:cNvPr id="10" name="Shape 7"/>
          <p:cNvSpPr/>
          <p:nvPr/>
        </p:nvSpPr>
        <p:spPr>
          <a:xfrm>
            <a:off x="4434840" y="1783080"/>
            <a:ext cx="566928" cy="566928"/>
          </a:xfrm>
          <a:prstGeom prst="ellipse">
            <a:avLst/>
          </a:prstGeom>
          <a:solidFill>
            <a:srgbClr val="D7DEF5"/>
          </a:solidFill>
          <a:ln/>
        </p:spPr>
      </p:sp>
      <p:pic>
        <p:nvPicPr>
          <p:cNvPr id="11" name="Image 1" descr="/home/claude/icons/idcard_navy.png">    </p:cNvPr>
          <p:cNvPicPr>
            <a:picLocks noChangeAspect="1"/>
          </p:cNvPicPr>
          <p:nvPr/>
        </p:nvPicPr>
        <p:blipFill>
          <a:blip r:embed="rId2"/>
          <a:stretch>
            <a:fillRect/>
          </a:stretch>
        </p:blipFill>
        <p:spPr>
          <a:xfrm>
            <a:off x="4576572" y="1924812"/>
            <a:ext cx="283464" cy="283464"/>
          </a:xfrm>
          <a:prstGeom prst="rect">
            <a:avLst/>
          </a:prstGeom>
        </p:spPr>
      </p:pic>
      <p:sp>
        <p:nvSpPr>
          <p:cNvPr id="12" name="Text 8"/>
          <p:cNvSpPr txBox="1"/>
          <p:nvPr/>
        </p:nvSpPr>
        <p:spPr>
          <a:xfrm>
            <a:off x="5212080" y="1755648"/>
            <a:ext cx="5943600"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Roll Number</a:t>
            </a:r>
            <a:endParaRPr lang="en-US" sz="1200" dirty="0"/>
          </a:p>
        </p:txBody>
      </p:sp>
      <p:sp>
        <p:nvSpPr>
          <p:cNvPr id="13" name="Text 9"/>
          <p:cNvSpPr txBox="1"/>
          <p:nvPr/>
        </p:nvSpPr>
        <p:spPr>
          <a:xfrm>
            <a:off x="5212080" y="2020824"/>
            <a:ext cx="6126480" cy="365760"/>
          </a:xfrm>
          <a:prstGeom prst="rect">
            <a:avLst/>
          </a:prstGeom>
          <a:noFill/>
          <a:ln/>
        </p:spPr>
        <p:txBody>
          <a:bodyPr wrap="square" lIns="0" tIns="0" rIns="0" bIns="0" rtlCol="0" anchor="ctr"/>
          <a:lstStyle/>
          <a:p>
            <a:pPr indent="0" marL="0">
              <a:buNone/>
            </a:pPr>
            <a:r>
              <a:rPr lang="en-US" sz="1500" dirty="0">
                <a:solidFill>
                  <a:srgbClr val="1B2340"/>
                </a:solidFill>
                <a:latin typeface="Calibri" pitchFamily="34" charset="0"/>
                <a:ea typeface="Calibri" pitchFamily="34" charset="-122"/>
                <a:cs typeface="Calibri" pitchFamily="34" charset="-120"/>
              </a:rPr>
              <a:t>2410031066</a:t>
            </a:r>
            <a:endParaRPr lang="en-US" sz="1500" dirty="0"/>
          </a:p>
        </p:txBody>
      </p:sp>
      <p:sp>
        <p:nvSpPr>
          <p:cNvPr id="14" name="Shape 10"/>
          <p:cNvSpPr/>
          <p:nvPr/>
        </p:nvSpPr>
        <p:spPr>
          <a:xfrm>
            <a:off x="4434840" y="2679192"/>
            <a:ext cx="566928" cy="566928"/>
          </a:xfrm>
          <a:prstGeom prst="ellipse">
            <a:avLst/>
          </a:prstGeom>
          <a:solidFill>
            <a:srgbClr val="D7DEF5"/>
          </a:solidFill>
          <a:ln/>
        </p:spPr>
      </p:sp>
      <p:pic>
        <p:nvPicPr>
          <p:cNvPr id="15" name="Image 2" descr="/home/claude/icons/university_navy.png">    </p:cNvPr>
          <p:cNvPicPr>
            <a:picLocks noChangeAspect="1"/>
          </p:cNvPicPr>
          <p:nvPr/>
        </p:nvPicPr>
        <p:blipFill>
          <a:blip r:embed="rId3"/>
          <a:stretch>
            <a:fillRect/>
          </a:stretch>
        </p:blipFill>
        <p:spPr>
          <a:xfrm>
            <a:off x="4576572" y="2820924"/>
            <a:ext cx="283464" cy="283464"/>
          </a:xfrm>
          <a:prstGeom prst="rect">
            <a:avLst/>
          </a:prstGeom>
        </p:spPr>
      </p:pic>
      <p:sp>
        <p:nvSpPr>
          <p:cNvPr id="16" name="Text 11"/>
          <p:cNvSpPr txBox="1"/>
          <p:nvPr/>
        </p:nvSpPr>
        <p:spPr>
          <a:xfrm>
            <a:off x="5212080" y="2651760"/>
            <a:ext cx="5943600"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Institute</a:t>
            </a:r>
            <a:endParaRPr lang="en-US" sz="1200" dirty="0"/>
          </a:p>
        </p:txBody>
      </p:sp>
      <p:sp>
        <p:nvSpPr>
          <p:cNvPr id="17" name="Text 12"/>
          <p:cNvSpPr txBox="1"/>
          <p:nvPr/>
        </p:nvSpPr>
        <p:spPr>
          <a:xfrm>
            <a:off x="5212080" y="2916936"/>
            <a:ext cx="6126480" cy="365760"/>
          </a:xfrm>
          <a:prstGeom prst="rect">
            <a:avLst/>
          </a:prstGeom>
          <a:noFill/>
          <a:ln/>
        </p:spPr>
        <p:txBody>
          <a:bodyPr wrap="square" lIns="0" tIns="0" rIns="0" bIns="0" rtlCol="0" anchor="ctr"/>
          <a:lstStyle/>
          <a:p>
            <a:pPr indent="0" marL="0">
              <a:buNone/>
            </a:pPr>
            <a:r>
              <a:rPr lang="en-US" sz="1500" dirty="0">
                <a:solidFill>
                  <a:srgbClr val="1B2340"/>
                </a:solidFill>
                <a:latin typeface="Calibri" pitchFamily="34" charset="0"/>
                <a:ea typeface="Calibri" pitchFamily="34" charset="-122"/>
                <a:cs typeface="Calibri" pitchFamily="34" charset="-120"/>
              </a:rPr>
              <a:t>IILM University, Greater Noida, U.P.</a:t>
            </a:r>
            <a:endParaRPr lang="en-US" sz="1500" dirty="0"/>
          </a:p>
        </p:txBody>
      </p:sp>
      <p:sp>
        <p:nvSpPr>
          <p:cNvPr id="18" name="Shape 13"/>
          <p:cNvSpPr/>
          <p:nvPr/>
        </p:nvSpPr>
        <p:spPr>
          <a:xfrm>
            <a:off x="4434840" y="3575304"/>
            <a:ext cx="566928" cy="566928"/>
          </a:xfrm>
          <a:prstGeom prst="ellipse">
            <a:avLst/>
          </a:prstGeom>
          <a:solidFill>
            <a:srgbClr val="D7DEF5"/>
          </a:solidFill>
          <a:ln/>
        </p:spPr>
      </p:sp>
      <p:pic>
        <p:nvPicPr>
          <p:cNvPr id="19" name="Image 3" descr="/home/claude/icons/gradcap_navy.png">    </p:cNvPr>
          <p:cNvPicPr>
            <a:picLocks noChangeAspect="1"/>
          </p:cNvPicPr>
          <p:nvPr/>
        </p:nvPicPr>
        <p:blipFill>
          <a:blip r:embed="rId4"/>
          <a:stretch>
            <a:fillRect/>
          </a:stretch>
        </p:blipFill>
        <p:spPr>
          <a:xfrm>
            <a:off x="4576572" y="3717036"/>
            <a:ext cx="283464" cy="283464"/>
          </a:xfrm>
          <a:prstGeom prst="rect">
            <a:avLst/>
          </a:prstGeom>
        </p:spPr>
      </p:pic>
      <p:sp>
        <p:nvSpPr>
          <p:cNvPr id="20" name="Text 14"/>
          <p:cNvSpPr txBox="1"/>
          <p:nvPr/>
        </p:nvSpPr>
        <p:spPr>
          <a:xfrm>
            <a:off x="5212080" y="3547872"/>
            <a:ext cx="5943600"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Programme</a:t>
            </a:r>
            <a:endParaRPr lang="en-US" sz="1200" dirty="0"/>
          </a:p>
        </p:txBody>
      </p:sp>
      <p:sp>
        <p:nvSpPr>
          <p:cNvPr id="21" name="Text 15"/>
          <p:cNvSpPr txBox="1"/>
          <p:nvPr/>
        </p:nvSpPr>
        <p:spPr>
          <a:xfrm>
            <a:off x="5212080" y="3813048"/>
            <a:ext cx="6126480" cy="365760"/>
          </a:xfrm>
          <a:prstGeom prst="rect">
            <a:avLst/>
          </a:prstGeom>
          <a:noFill/>
          <a:ln/>
        </p:spPr>
        <p:txBody>
          <a:bodyPr wrap="square" lIns="0" tIns="0" rIns="0" bIns="0" rtlCol="0" anchor="ctr"/>
          <a:lstStyle/>
          <a:p>
            <a:pPr indent="0" marL="0">
              <a:buNone/>
            </a:pPr>
            <a:r>
              <a:rPr lang="en-US" sz="1500" dirty="0">
                <a:solidFill>
                  <a:srgbClr val="1B2340"/>
                </a:solidFill>
                <a:latin typeface="Calibri" pitchFamily="34" charset="0"/>
                <a:ea typeface="Calibri" pitchFamily="34" charset="-122"/>
                <a:cs typeface="Calibri" pitchFamily="34" charset="-120"/>
              </a:rPr>
              <a:t>B.Tech CSE, Batch 2024–2028</a:t>
            </a:r>
            <a:endParaRPr lang="en-US" sz="1500" dirty="0"/>
          </a:p>
        </p:txBody>
      </p:sp>
      <p:sp>
        <p:nvSpPr>
          <p:cNvPr id="22" name="Shape 16"/>
          <p:cNvSpPr/>
          <p:nvPr/>
        </p:nvSpPr>
        <p:spPr>
          <a:xfrm>
            <a:off x="4434840" y="4471416"/>
            <a:ext cx="566928" cy="566928"/>
          </a:xfrm>
          <a:prstGeom prst="ellipse">
            <a:avLst/>
          </a:prstGeom>
          <a:solidFill>
            <a:srgbClr val="D7DEF5"/>
          </a:solidFill>
          <a:ln/>
        </p:spPr>
      </p:sp>
      <p:pic>
        <p:nvPicPr>
          <p:cNvPr id="23" name="Image 4" descr="/home/claude/icons/bullseye_navy.png">    </p:cNvPr>
          <p:cNvPicPr>
            <a:picLocks noChangeAspect="1"/>
          </p:cNvPicPr>
          <p:nvPr/>
        </p:nvPicPr>
        <p:blipFill>
          <a:blip r:embed="rId5"/>
          <a:stretch>
            <a:fillRect/>
          </a:stretch>
        </p:blipFill>
        <p:spPr>
          <a:xfrm>
            <a:off x="4576572" y="4613148"/>
            <a:ext cx="283464" cy="283464"/>
          </a:xfrm>
          <a:prstGeom prst="rect">
            <a:avLst/>
          </a:prstGeom>
        </p:spPr>
      </p:pic>
      <p:sp>
        <p:nvSpPr>
          <p:cNvPr id="24" name="Text 17"/>
          <p:cNvSpPr txBox="1"/>
          <p:nvPr/>
        </p:nvSpPr>
        <p:spPr>
          <a:xfrm>
            <a:off x="5212080" y="4443984"/>
            <a:ext cx="5943600"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Internship Domain</a:t>
            </a:r>
            <a:endParaRPr lang="en-US" sz="1200" dirty="0"/>
          </a:p>
        </p:txBody>
      </p:sp>
      <p:sp>
        <p:nvSpPr>
          <p:cNvPr id="25" name="Text 18"/>
          <p:cNvSpPr txBox="1"/>
          <p:nvPr/>
        </p:nvSpPr>
        <p:spPr>
          <a:xfrm>
            <a:off x="5212080" y="4709160"/>
            <a:ext cx="6126480" cy="365760"/>
          </a:xfrm>
          <a:prstGeom prst="rect">
            <a:avLst/>
          </a:prstGeom>
          <a:noFill/>
          <a:ln/>
        </p:spPr>
        <p:txBody>
          <a:bodyPr wrap="square" lIns="0" tIns="0" rIns="0" bIns="0" rtlCol="0" anchor="ctr"/>
          <a:lstStyle/>
          <a:p>
            <a:pPr indent="0" marL="0">
              <a:buNone/>
            </a:pPr>
            <a:r>
              <a:rPr lang="en-US" sz="1500" dirty="0">
                <a:solidFill>
                  <a:srgbClr val="1B2340"/>
                </a:solidFill>
                <a:latin typeface="Calibri" pitchFamily="34" charset="0"/>
                <a:ea typeface="Calibri" pitchFamily="34" charset="-122"/>
                <a:cs typeface="Calibri" pitchFamily="34" charset="-120"/>
              </a:rPr>
              <a:t>Java Full Stack Developer</a:t>
            </a:r>
            <a:endParaRPr lang="en-US" sz="1500" dirty="0"/>
          </a:p>
        </p:txBody>
      </p:sp>
      <p:sp>
        <p:nvSpPr>
          <p:cNvPr id="26" name="Shape 19"/>
          <p:cNvSpPr/>
          <p:nvPr/>
        </p:nvSpPr>
        <p:spPr>
          <a:xfrm>
            <a:off x="4434840" y="5367528"/>
            <a:ext cx="566928" cy="566928"/>
          </a:xfrm>
          <a:prstGeom prst="ellipse">
            <a:avLst/>
          </a:prstGeom>
          <a:solidFill>
            <a:srgbClr val="D7DEF5"/>
          </a:solidFill>
          <a:ln/>
        </p:spPr>
      </p:sp>
      <p:pic>
        <p:nvPicPr>
          <p:cNvPr id="27" name="Image 5" descr="/home/claude/icons/calendar_navy.png">    </p:cNvPr>
          <p:cNvPicPr>
            <a:picLocks noChangeAspect="1"/>
          </p:cNvPicPr>
          <p:nvPr/>
        </p:nvPicPr>
        <p:blipFill>
          <a:blip r:embed="rId6"/>
          <a:stretch>
            <a:fillRect/>
          </a:stretch>
        </p:blipFill>
        <p:spPr>
          <a:xfrm>
            <a:off x="4576572" y="5509260"/>
            <a:ext cx="283464" cy="283464"/>
          </a:xfrm>
          <a:prstGeom prst="rect">
            <a:avLst/>
          </a:prstGeom>
        </p:spPr>
      </p:pic>
      <p:sp>
        <p:nvSpPr>
          <p:cNvPr id="28" name="Text 20"/>
          <p:cNvSpPr txBox="1"/>
          <p:nvPr/>
        </p:nvSpPr>
        <p:spPr>
          <a:xfrm>
            <a:off x="5212080" y="5340096"/>
            <a:ext cx="5943600" cy="292608"/>
          </a:xfrm>
          <a:prstGeom prst="rect">
            <a:avLst/>
          </a:prstGeom>
          <a:noFill/>
          <a:ln/>
        </p:spPr>
        <p:txBody>
          <a:bodyPr wrap="square" lIns="0" tIns="0" rIns="0" bIns="0" rtlCol="0" anchor="ctr"/>
          <a:lstStyle/>
          <a:p>
            <a:pPr indent="0" marL="0">
              <a:buNone/>
            </a:pPr>
            <a:r>
              <a:rPr lang="en-US" sz="1200" b="1" dirty="0">
                <a:solidFill>
                  <a:srgbClr val="6B7280"/>
                </a:solidFill>
                <a:latin typeface="Calibri" pitchFamily="34" charset="0"/>
                <a:ea typeface="Calibri" pitchFamily="34" charset="-122"/>
                <a:cs typeface="Calibri" pitchFamily="34" charset="-120"/>
              </a:rPr>
              <a:t>Duration</a:t>
            </a:r>
            <a:endParaRPr lang="en-US" sz="1200" dirty="0"/>
          </a:p>
        </p:txBody>
      </p:sp>
      <p:sp>
        <p:nvSpPr>
          <p:cNvPr id="29" name="Text 21"/>
          <p:cNvSpPr txBox="1"/>
          <p:nvPr/>
        </p:nvSpPr>
        <p:spPr>
          <a:xfrm>
            <a:off x="5212080" y="5605272"/>
            <a:ext cx="6126480" cy="365760"/>
          </a:xfrm>
          <a:prstGeom prst="rect">
            <a:avLst/>
          </a:prstGeom>
          <a:noFill/>
          <a:ln/>
        </p:spPr>
        <p:txBody>
          <a:bodyPr wrap="square" lIns="0" tIns="0" rIns="0" bIns="0" rtlCol="0" anchor="ctr"/>
          <a:lstStyle/>
          <a:p>
            <a:pPr indent="0" marL="0">
              <a:buNone/>
            </a:pPr>
            <a:r>
              <a:rPr lang="en-US" sz="1500" dirty="0">
                <a:solidFill>
                  <a:srgbClr val="1B2340"/>
                </a:solidFill>
                <a:latin typeface="Calibri" pitchFamily="34" charset="0"/>
                <a:ea typeface="Calibri" pitchFamily="34" charset="-122"/>
                <a:cs typeface="Calibri" pitchFamily="34" charset="-120"/>
              </a:rPr>
              <a:t>8 Weeks | April – June 2026</a:t>
            </a:r>
            <a:endParaRPr lang="en-US" sz="1500" dirty="0"/>
          </a:p>
        </p:txBody>
      </p:sp>
      <p:sp>
        <p:nvSpPr>
          <p:cNvPr id="30" name="Text 22"/>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31" name="Text 23"/>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ABOUT THE PROGRAM</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B2340"/>
                </a:solidFill>
                <a:latin typeface="Bookman Old Style" pitchFamily="34" charset="0"/>
                <a:ea typeface="Bookman Old Style" pitchFamily="34" charset="-122"/>
                <a:cs typeface="Bookman Old Style" pitchFamily="34" charset="-120"/>
              </a:rPr>
              <a:t>EduSkills, AICTE &amp; Industry-Aligned Learning</a:t>
            </a:r>
            <a:endParaRPr lang="en-US" sz="3000" dirty="0"/>
          </a:p>
        </p:txBody>
      </p:sp>
      <p:sp>
        <p:nvSpPr>
          <p:cNvPr id="4" name="Text 2"/>
          <p:cNvSpPr txBox="1"/>
          <p:nvPr/>
        </p:nvSpPr>
        <p:spPr>
          <a:xfrm>
            <a:off x="548640" y="1508760"/>
            <a:ext cx="11064240" cy="1188720"/>
          </a:xfrm>
          <a:prstGeom prst="rect">
            <a:avLst/>
          </a:prstGeom>
          <a:noFill/>
          <a:ln/>
        </p:spPr>
        <p:txBody>
          <a:bodyPr wrap="square" lIns="0" tIns="0" rIns="0" bIns="0" rtlCol="0" anchor="ctr"/>
          <a:lstStyle/>
          <a:p>
            <a:pPr indent="0" marL="0">
              <a:lnSpc>
                <a:spcPct val="125000"/>
              </a:lnSpc>
              <a:buNone/>
            </a:pPr>
            <a:r>
              <a:rPr lang="en-US" sz="1400" dirty="0">
                <a:solidFill>
                  <a:srgbClr val="1B2340"/>
                </a:solidFill>
                <a:latin typeface="Calibri" pitchFamily="34" charset="0"/>
                <a:ea typeface="Calibri" pitchFamily="34" charset="-122"/>
                <a:cs typeface="Calibri" pitchFamily="34" charset="-120"/>
              </a:rPr>
              <a:t>EduSkills Academy is an ISO 9001:2015 and ISO/IEC 20000-1:2018 certified organization working under the theme "Nation Building Through Skills." It partners with the All India Council for Technical Education (AICTE) to run the AICTE–EduSkills Virtual Internship Program under the patronage of the AICTE National Internship Portal. For the Java Full Stack Developer track, EduSkills has designed an industry-aligned curriculum that helps engineering students build practical, job-ready skills in end-to-end web application development.</a:t>
            </a:r>
            <a:endParaRPr lang="en-US" sz="1400" dirty="0"/>
          </a:p>
        </p:txBody>
      </p:sp>
      <p:sp>
        <p:nvSpPr>
          <p:cNvPr id="5" name="Shape 3"/>
          <p:cNvSpPr/>
          <p:nvPr/>
        </p:nvSpPr>
        <p:spPr>
          <a:xfrm>
            <a:off x="548640" y="3063240"/>
            <a:ext cx="3429000" cy="2331720"/>
          </a:xfrm>
          <a:prstGeom prst="roundRect">
            <a:avLst>
              <a:gd name="adj" fmla="val 3137"/>
            </a:avLst>
          </a:prstGeom>
          <a:solidFill>
            <a:srgbClr val="FFFFFF"/>
          </a:solidFill>
          <a:ln/>
          <a:effectLst>
            <a:outerShdw sx="100000" sy="100000" kx="0" ky="0" algn="bl" rotWithShape="0" blurRad="101600" dist="38100" dir="5400000">
              <a:srgbClr val="1E2761">
                <a:alpha val="12000"/>
              </a:srgbClr>
            </a:outerShdw>
          </a:effectLst>
        </p:spPr>
      </p:sp>
      <p:sp>
        <p:nvSpPr>
          <p:cNvPr id="6" name="Shape 4"/>
          <p:cNvSpPr/>
          <p:nvPr/>
        </p:nvSpPr>
        <p:spPr>
          <a:xfrm>
            <a:off x="1760220" y="3383280"/>
            <a:ext cx="1005840" cy="1005840"/>
          </a:xfrm>
          <a:prstGeom prst="ellipse">
            <a:avLst/>
          </a:prstGeom>
          <a:solidFill>
            <a:srgbClr val="D7DEF5"/>
          </a:solidFill>
          <a:ln/>
        </p:spPr>
      </p:sp>
      <p:pic>
        <p:nvPicPr>
          <p:cNvPr id="7" name="Image 0" descr="/home/claude/icons/certificate_navy.png">    </p:cNvPr>
          <p:cNvPicPr>
            <a:picLocks noChangeAspect="1"/>
          </p:cNvPicPr>
          <p:nvPr/>
        </p:nvPicPr>
        <p:blipFill>
          <a:blip r:embed="rId1"/>
          <a:stretch>
            <a:fillRect/>
          </a:stretch>
        </p:blipFill>
        <p:spPr>
          <a:xfrm>
            <a:off x="2011680" y="3634740"/>
            <a:ext cx="502920" cy="502920"/>
          </a:xfrm>
          <a:prstGeom prst="rect">
            <a:avLst/>
          </a:prstGeom>
        </p:spPr>
      </p:pic>
      <p:sp>
        <p:nvSpPr>
          <p:cNvPr id="8" name="Text 5"/>
          <p:cNvSpPr txBox="1"/>
          <p:nvPr/>
        </p:nvSpPr>
        <p:spPr>
          <a:xfrm>
            <a:off x="777240" y="4526280"/>
            <a:ext cx="2971800" cy="365760"/>
          </a:xfrm>
          <a:prstGeom prst="rect">
            <a:avLst/>
          </a:prstGeom>
          <a:noFill/>
          <a:ln/>
        </p:spPr>
        <p:txBody>
          <a:bodyPr wrap="square" lIns="0" tIns="0" rIns="0" bIns="0" rtlCol="0" anchor="ctr"/>
          <a:lstStyle/>
          <a:p>
            <a:pPr algn="ctr" indent="0" marL="0">
              <a:buNone/>
            </a:pPr>
            <a:r>
              <a:rPr lang="en-US" sz="1500" b="1" dirty="0">
                <a:solidFill>
                  <a:srgbClr val="1B2340"/>
                </a:solidFill>
                <a:latin typeface="Calibri" pitchFamily="34" charset="0"/>
                <a:ea typeface="Calibri" pitchFamily="34" charset="-122"/>
                <a:cs typeface="Calibri" pitchFamily="34" charset="-120"/>
              </a:rPr>
              <a:t>ISO Certified</a:t>
            </a:r>
            <a:endParaRPr lang="en-US" sz="1500" dirty="0"/>
          </a:p>
        </p:txBody>
      </p:sp>
      <p:sp>
        <p:nvSpPr>
          <p:cNvPr id="9" name="Text 6"/>
          <p:cNvSpPr txBox="1"/>
          <p:nvPr/>
        </p:nvSpPr>
        <p:spPr>
          <a:xfrm>
            <a:off x="822960" y="4892040"/>
            <a:ext cx="28803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ISO 9001:2015 &amp; ISO/IEC 20000-1:2018 certified organization.</a:t>
            </a:r>
            <a:endParaRPr lang="en-US" sz="1100" dirty="0"/>
          </a:p>
        </p:txBody>
      </p:sp>
      <p:sp>
        <p:nvSpPr>
          <p:cNvPr id="10" name="Shape 7"/>
          <p:cNvSpPr/>
          <p:nvPr/>
        </p:nvSpPr>
        <p:spPr>
          <a:xfrm>
            <a:off x="4297680" y="3063240"/>
            <a:ext cx="3429000" cy="2331720"/>
          </a:xfrm>
          <a:prstGeom prst="roundRect">
            <a:avLst>
              <a:gd name="adj" fmla="val 3137"/>
            </a:avLst>
          </a:prstGeom>
          <a:solidFill>
            <a:srgbClr val="FFFFFF"/>
          </a:solidFill>
          <a:ln/>
          <a:effectLst>
            <a:outerShdw sx="100000" sy="100000" kx="0" ky="0" algn="bl" rotWithShape="0" blurRad="101600" dist="38100" dir="5400000">
              <a:srgbClr val="1E2761">
                <a:alpha val="12000"/>
              </a:srgbClr>
            </a:outerShdw>
          </a:effectLst>
        </p:spPr>
      </p:sp>
      <p:sp>
        <p:nvSpPr>
          <p:cNvPr id="11" name="Shape 8"/>
          <p:cNvSpPr/>
          <p:nvPr/>
        </p:nvSpPr>
        <p:spPr>
          <a:xfrm>
            <a:off x="5509260" y="3383280"/>
            <a:ext cx="1005840" cy="1005840"/>
          </a:xfrm>
          <a:prstGeom prst="ellipse">
            <a:avLst/>
          </a:prstGeom>
          <a:solidFill>
            <a:srgbClr val="D7DEF5"/>
          </a:solidFill>
          <a:ln/>
        </p:spPr>
      </p:sp>
      <p:pic>
        <p:nvPicPr>
          <p:cNvPr id="12" name="Image 1" descr="/home/claude/icons/flag_navy.png">    </p:cNvPr>
          <p:cNvPicPr>
            <a:picLocks noChangeAspect="1"/>
          </p:cNvPicPr>
          <p:nvPr/>
        </p:nvPicPr>
        <p:blipFill>
          <a:blip r:embed="rId2"/>
          <a:stretch>
            <a:fillRect/>
          </a:stretch>
        </p:blipFill>
        <p:spPr>
          <a:xfrm>
            <a:off x="5760720" y="3634740"/>
            <a:ext cx="502920" cy="502920"/>
          </a:xfrm>
          <a:prstGeom prst="rect">
            <a:avLst/>
          </a:prstGeom>
        </p:spPr>
      </p:pic>
      <p:sp>
        <p:nvSpPr>
          <p:cNvPr id="13" name="Text 9"/>
          <p:cNvSpPr txBox="1"/>
          <p:nvPr/>
        </p:nvSpPr>
        <p:spPr>
          <a:xfrm>
            <a:off x="4526280" y="4526280"/>
            <a:ext cx="2971800" cy="365760"/>
          </a:xfrm>
          <a:prstGeom prst="rect">
            <a:avLst/>
          </a:prstGeom>
          <a:noFill/>
          <a:ln/>
        </p:spPr>
        <p:txBody>
          <a:bodyPr wrap="square" lIns="0" tIns="0" rIns="0" bIns="0" rtlCol="0" anchor="ctr"/>
          <a:lstStyle/>
          <a:p>
            <a:pPr algn="ctr" indent="0" marL="0">
              <a:buNone/>
            </a:pPr>
            <a:r>
              <a:rPr lang="en-US" sz="1500" b="1" dirty="0">
                <a:solidFill>
                  <a:srgbClr val="1B2340"/>
                </a:solidFill>
                <a:latin typeface="Calibri" pitchFamily="34" charset="0"/>
                <a:ea typeface="Calibri" pitchFamily="34" charset="-122"/>
                <a:cs typeface="Calibri" pitchFamily="34" charset="-120"/>
              </a:rPr>
              <a:t>AICTE Patronage</a:t>
            </a:r>
            <a:endParaRPr lang="en-US" sz="1500" dirty="0"/>
          </a:p>
        </p:txBody>
      </p:sp>
      <p:sp>
        <p:nvSpPr>
          <p:cNvPr id="14" name="Text 10"/>
          <p:cNvSpPr txBox="1"/>
          <p:nvPr/>
        </p:nvSpPr>
        <p:spPr>
          <a:xfrm>
            <a:off x="4572000" y="4892040"/>
            <a:ext cx="28803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Run under the AICTE National Internship Portal.</a:t>
            </a:r>
            <a:endParaRPr lang="en-US" sz="1100" dirty="0"/>
          </a:p>
        </p:txBody>
      </p:sp>
      <p:sp>
        <p:nvSpPr>
          <p:cNvPr id="15" name="Shape 11"/>
          <p:cNvSpPr/>
          <p:nvPr/>
        </p:nvSpPr>
        <p:spPr>
          <a:xfrm>
            <a:off x="8046720" y="3063240"/>
            <a:ext cx="3429000" cy="2331720"/>
          </a:xfrm>
          <a:prstGeom prst="roundRect">
            <a:avLst>
              <a:gd name="adj" fmla="val 3137"/>
            </a:avLst>
          </a:prstGeom>
          <a:solidFill>
            <a:srgbClr val="FFFFFF"/>
          </a:solidFill>
          <a:ln/>
          <a:effectLst>
            <a:outerShdw sx="100000" sy="100000" kx="0" ky="0" algn="bl" rotWithShape="0" blurRad="101600" dist="38100" dir="5400000">
              <a:srgbClr val="1E2761">
                <a:alpha val="12000"/>
              </a:srgbClr>
            </a:outerShdw>
          </a:effectLst>
        </p:spPr>
      </p:sp>
      <p:sp>
        <p:nvSpPr>
          <p:cNvPr id="16" name="Shape 12"/>
          <p:cNvSpPr/>
          <p:nvPr/>
        </p:nvSpPr>
        <p:spPr>
          <a:xfrm>
            <a:off x="9258300" y="3383280"/>
            <a:ext cx="1005840" cy="1005840"/>
          </a:xfrm>
          <a:prstGeom prst="ellipse">
            <a:avLst/>
          </a:prstGeom>
          <a:solidFill>
            <a:srgbClr val="D7DEF5"/>
          </a:solidFill>
          <a:ln/>
        </p:spPr>
      </p:sp>
      <p:pic>
        <p:nvPicPr>
          <p:cNvPr id="17" name="Image 2" descr="/home/claude/icons/laptop_navy.png">    </p:cNvPr>
          <p:cNvPicPr>
            <a:picLocks noChangeAspect="1"/>
          </p:cNvPicPr>
          <p:nvPr/>
        </p:nvPicPr>
        <p:blipFill>
          <a:blip r:embed="rId3"/>
          <a:stretch>
            <a:fillRect/>
          </a:stretch>
        </p:blipFill>
        <p:spPr>
          <a:xfrm>
            <a:off x="9509760" y="3634740"/>
            <a:ext cx="502920" cy="502920"/>
          </a:xfrm>
          <a:prstGeom prst="rect">
            <a:avLst/>
          </a:prstGeom>
        </p:spPr>
      </p:pic>
      <p:sp>
        <p:nvSpPr>
          <p:cNvPr id="18" name="Text 13"/>
          <p:cNvSpPr txBox="1"/>
          <p:nvPr/>
        </p:nvSpPr>
        <p:spPr>
          <a:xfrm>
            <a:off x="8275320" y="4526280"/>
            <a:ext cx="2971800" cy="365760"/>
          </a:xfrm>
          <a:prstGeom prst="rect">
            <a:avLst/>
          </a:prstGeom>
          <a:noFill/>
          <a:ln/>
        </p:spPr>
        <p:txBody>
          <a:bodyPr wrap="square" lIns="0" tIns="0" rIns="0" bIns="0" rtlCol="0" anchor="ctr"/>
          <a:lstStyle/>
          <a:p>
            <a:pPr algn="ctr" indent="0" marL="0">
              <a:buNone/>
            </a:pPr>
            <a:r>
              <a:rPr lang="en-US" sz="1500" b="1" dirty="0">
                <a:solidFill>
                  <a:srgbClr val="1B2340"/>
                </a:solidFill>
                <a:latin typeface="Calibri" pitchFamily="34" charset="0"/>
                <a:ea typeface="Calibri" pitchFamily="34" charset="-122"/>
                <a:cs typeface="Calibri" pitchFamily="34" charset="-120"/>
              </a:rPr>
              <a:t>Industry-Ready Curriculum</a:t>
            </a:r>
            <a:endParaRPr lang="en-US" sz="1500" dirty="0"/>
          </a:p>
        </p:txBody>
      </p:sp>
      <p:sp>
        <p:nvSpPr>
          <p:cNvPr id="19" name="Text 14"/>
          <p:cNvSpPr txBox="1"/>
          <p:nvPr/>
        </p:nvSpPr>
        <p:spPr>
          <a:xfrm>
            <a:off x="8321040" y="4892040"/>
            <a:ext cx="2880360" cy="45720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Job-ready skills for end-to-end full stack development.</a:t>
            </a:r>
            <a:endParaRPr lang="en-US" sz="1100" dirty="0"/>
          </a:p>
        </p:txBody>
      </p:sp>
      <p:sp>
        <p:nvSpPr>
          <p:cNvPr id="20" name="Text 15"/>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21" name="Text 16"/>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Bridging Theory and Full Stack Practice</a:t>
            </a:r>
            <a:endParaRPr lang="en-US" sz="3000" dirty="0"/>
          </a:p>
        </p:txBody>
      </p:sp>
      <p:sp>
        <p:nvSpPr>
          <p:cNvPr id="4" name="Shape 2"/>
          <p:cNvSpPr/>
          <p:nvPr/>
        </p:nvSpPr>
        <p:spPr>
          <a:xfrm>
            <a:off x="548640" y="1463040"/>
            <a:ext cx="11064240" cy="1417320"/>
          </a:xfrm>
          <a:prstGeom prst="roundRect">
            <a:avLst>
              <a:gd name="adj" fmla="val 3871"/>
            </a:avLst>
          </a:prstGeom>
          <a:solidFill>
            <a:srgbClr val="242E6E"/>
          </a:solidFill>
          <a:ln/>
        </p:spPr>
      </p:sp>
      <p:sp>
        <p:nvSpPr>
          <p:cNvPr id="5" name="Text 3"/>
          <p:cNvSpPr txBox="1"/>
          <p:nvPr/>
        </p:nvSpPr>
        <p:spPr>
          <a:xfrm>
            <a:off x="822960" y="1600200"/>
            <a:ext cx="10515600" cy="1188720"/>
          </a:xfrm>
          <a:prstGeom prst="rect">
            <a:avLst/>
          </a:prstGeom>
          <a:noFill/>
          <a:ln/>
        </p:spPr>
        <p:txBody>
          <a:bodyPr wrap="square" lIns="0" tIns="0" rIns="0" bIns="0" rtlCol="0" anchor="ctr"/>
          <a:lstStyle/>
          <a:p>
            <a:pPr indent="0" marL="0">
              <a:lnSpc>
                <a:spcPct val="120000"/>
              </a:lnSpc>
              <a:buNone/>
            </a:pPr>
            <a:r>
              <a:rPr lang="en-US" sz="1300" dirty="0">
                <a:solidFill>
                  <a:srgbClr val="E3E7F7"/>
                </a:solidFill>
                <a:latin typeface="Calibri" pitchFamily="34" charset="0"/>
                <a:ea typeface="Calibri" pitchFamily="34" charset="-122"/>
                <a:cs typeface="Calibri" pitchFamily="34" charset="-120"/>
              </a:rPr>
              <a:t>Although many engineering students learn the theoretical foundations of programming and object-oriented concepts in coursework, very few get structured, hands-on exposure to building a complete web application that integrates front-end, back-end, and database layers using an industry-standard stack such as Java, Spring Boot, and MySQL. Concepts like RESTful API design, server-side programming, and database connectivity are often understood only theoretically.</a:t>
            </a:r>
            <a:endParaRPr lang="en-US" sz="1300" dirty="0"/>
          </a:p>
        </p:txBody>
      </p:sp>
      <p:sp>
        <p:nvSpPr>
          <p:cNvPr id="6" name="Text 4"/>
          <p:cNvSpPr txBox="1"/>
          <p:nvPr/>
        </p:nvSpPr>
        <p:spPr>
          <a:xfrm>
            <a:off x="548640" y="3154680"/>
            <a:ext cx="10515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This internship addressed that gap — practically learning the full Java Full Stack workflow:</a:t>
            </a:r>
            <a:endParaRPr lang="en-US" sz="1400" dirty="0"/>
          </a:p>
        </p:txBody>
      </p:sp>
      <p:sp>
        <p:nvSpPr>
          <p:cNvPr id="7" name="Shape 5"/>
          <p:cNvSpPr/>
          <p:nvPr/>
        </p:nvSpPr>
        <p:spPr>
          <a:xfrm>
            <a:off x="897484" y="3794760"/>
            <a:ext cx="1874520" cy="1371600"/>
          </a:xfrm>
          <a:prstGeom prst="roundRect">
            <a:avLst>
              <a:gd name="adj" fmla="val 4667"/>
            </a:avLst>
          </a:prstGeom>
          <a:solidFill>
            <a:srgbClr val="2B356F"/>
          </a:solidFill>
          <a:ln/>
        </p:spPr>
      </p:sp>
      <p:sp>
        <p:nvSpPr>
          <p:cNvPr id="8" name="Shape 6"/>
          <p:cNvSpPr/>
          <p:nvPr/>
        </p:nvSpPr>
        <p:spPr>
          <a:xfrm>
            <a:off x="1551280" y="3995928"/>
            <a:ext cx="566928" cy="566928"/>
          </a:xfrm>
          <a:prstGeom prst="ellipse">
            <a:avLst/>
          </a:prstGeom>
          <a:solidFill>
            <a:srgbClr val="1E2761"/>
          </a:solidFill>
          <a:ln/>
        </p:spPr>
      </p:sp>
      <p:pic>
        <p:nvPicPr>
          <p:cNvPr id="9" name="Image 0" descr="/home/claude/icons/code_white.png">    </p:cNvPr>
          <p:cNvPicPr>
            <a:picLocks noChangeAspect="1"/>
          </p:cNvPicPr>
          <p:nvPr/>
        </p:nvPicPr>
        <p:blipFill>
          <a:blip r:embed="rId1"/>
          <a:stretch>
            <a:fillRect/>
          </a:stretch>
        </p:blipFill>
        <p:spPr>
          <a:xfrm>
            <a:off x="1678838" y="4123487"/>
            <a:ext cx="311810" cy="311810"/>
          </a:xfrm>
          <a:prstGeom prst="rect">
            <a:avLst/>
          </a:prstGeom>
        </p:spPr>
      </p:pic>
      <p:sp>
        <p:nvSpPr>
          <p:cNvPr id="10" name="Text 7"/>
          <p:cNvSpPr txBox="1"/>
          <p:nvPr/>
        </p:nvSpPr>
        <p:spPr>
          <a:xfrm>
            <a:off x="988924" y="4663440"/>
            <a:ext cx="1691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Core Java &amp; OOP</a:t>
            </a:r>
            <a:endParaRPr lang="en-US" sz="1100" dirty="0"/>
          </a:p>
        </p:txBody>
      </p:sp>
      <p:sp>
        <p:nvSpPr>
          <p:cNvPr id="11" name="Text 8"/>
          <p:cNvSpPr txBox="1"/>
          <p:nvPr/>
        </p:nvSpPr>
        <p:spPr>
          <a:xfrm>
            <a:off x="2772004" y="4206240"/>
            <a:ext cx="256032" cy="548640"/>
          </a:xfrm>
          <a:prstGeom prst="rect">
            <a:avLst/>
          </a:prstGeom>
          <a:noFill/>
          <a:ln/>
        </p:spPr>
        <p:txBody>
          <a:bodyPr wrap="square" lIns="0" tIns="0" rIns="0" bIns="0" rtlCol="0" anchor="ctr"/>
          <a:lstStyle/>
          <a:p>
            <a:pPr algn="ctr" indent="0" marL="0">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12" name="Shape 9"/>
          <p:cNvSpPr/>
          <p:nvPr/>
        </p:nvSpPr>
        <p:spPr>
          <a:xfrm>
            <a:off x="3028036" y="3794760"/>
            <a:ext cx="1874520" cy="1371600"/>
          </a:xfrm>
          <a:prstGeom prst="roundRect">
            <a:avLst>
              <a:gd name="adj" fmla="val 4667"/>
            </a:avLst>
          </a:prstGeom>
          <a:solidFill>
            <a:srgbClr val="2B356F"/>
          </a:solidFill>
          <a:ln/>
        </p:spPr>
      </p:sp>
      <p:sp>
        <p:nvSpPr>
          <p:cNvPr id="13" name="Shape 10"/>
          <p:cNvSpPr/>
          <p:nvPr/>
        </p:nvSpPr>
        <p:spPr>
          <a:xfrm>
            <a:off x="3681832" y="3995928"/>
            <a:ext cx="566928" cy="566928"/>
          </a:xfrm>
          <a:prstGeom prst="ellipse">
            <a:avLst/>
          </a:prstGeom>
          <a:solidFill>
            <a:srgbClr val="1E2761"/>
          </a:solidFill>
          <a:ln/>
        </p:spPr>
      </p:sp>
      <p:pic>
        <p:nvPicPr>
          <p:cNvPr id="14" name="Image 1" descr="/home/claude/icons/html5_white.png">    </p:cNvPr>
          <p:cNvPicPr>
            <a:picLocks noChangeAspect="1"/>
          </p:cNvPicPr>
          <p:nvPr/>
        </p:nvPicPr>
        <p:blipFill>
          <a:blip r:embed="rId2"/>
          <a:stretch>
            <a:fillRect/>
          </a:stretch>
        </p:blipFill>
        <p:spPr>
          <a:xfrm>
            <a:off x="3809390" y="4123487"/>
            <a:ext cx="311810" cy="311810"/>
          </a:xfrm>
          <a:prstGeom prst="rect">
            <a:avLst/>
          </a:prstGeom>
        </p:spPr>
      </p:pic>
      <p:sp>
        <p:nvSpPr>
          <p:cNvPr id="15" name="Text 11"/>
          <p:cNvSpPr txBox="1"/>
          <p:nvPr/>
        </p:nvSpPr>
        <p:spPr>
          <a:xfrm>
            <a:off x="3119476" y="4663440"/>
            <a:ext cx="1691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Front-End (HTML/CSS/JS)</a:t>
            </a:r>
            <a:endParaRPr lang="en-US" sz="1100" dirty="0"/>
          </a:p>
        </p:txBody>
      </p:sp>
      <p:sp>
        <p:nvSpPr>
          <p:cNvPr id="16" name="Text 12"/>
          <p:cNvSpPr txBox="1"/>
          <p:nvPr/>
        </p:nvSpPr>
        <p:spPr>
          <a:xfrm>
            <a:off x="4902556" y="4206240"/>
            <a:ext cx="256032" cy="548640"/>
          </a:xfrm>
          <a:prstGeom prst="rect">
            <a:avLst/>
          </a:prstGeom>
          <a:noFill/>
          <a:ln/>
        </p:spPr>
        <p:txBody>
          <a:bodyPr wrap="square" lIns="0" tIns="0" rIns="0" bIns="0" rtlCol="0" anchor="ctr"/>
          <a:lstStyle/>
          <a:p>
            <a:pPr algn="ctr" indent="0" marL="0">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17" name="Shape 13"/>
          <p:cNvSpPr/>
          <p:nvPr/>
        </p:nvSpPr>
        <p:spPr>
          <a:xfrm>
            <a:off x="5158588" y="3794760"/>
            <a:ext cx="1874520" cy="1371600"/>
          </a:xfrm>
          <a:prstGeom prst="roundRect">
            <a:avLst>
              <a:gd name="adj" fmla="val 4667"/>
            </a:avLst>
          </a:prstGeom>
          <a:solidFill>
            <a:srgbClr val="2B356F"/>
          </a:solidFill>
          <a:ln/>
        </p:spPr>
      </p:sp>
      <p:sp>
        <p:nvSpPr>
          <p:cNvPr id="18" name="Shape 14"/>
          <p:cNvSpPr/>
          <p:nvPr/>
        </p:nvSpPr>
        <p:spPr>
          <a:xfrm>
            <a:off x="5812384" y="3995928"/>
            <a:ext cx="566928" cy="566928"/>
          </a:xfrm>
          <a:prstGeom prst="ellipse">
            <a:avLst/>
          </a:prstGeom>
          <a:solidFill>
            <a:srgbClr val="1E2761"/>
          </a:solidFill>
          <a:ln/>
        </p:spPr>
      </p:sp>
      <p:pic>
        <p:nvPicPr>
          <p:cNvPr id="19" name="Image 2" descr="/home/claude/icons/server_white.png">    </p:cNvPr>
          <p:cNvPicPr>
            <a:picLocks noChangeAspect="1"/>
          </p:cNvPicPr>
          <p:nvPr/>
        </p:nvPicPr>
        <p:blipFill>
          <a:blip r:embed="rId3"/>
          <a:stretch>
            <a:fillRect/>
          </a:stretch>
        </p:blipFill>
        <p:spPr>
          <a:xfrm>
            <a:off x="5939942" y="4123487"/>
            <a:ext cx="311810" cy="311810"/>
          </a:xfrm>
          <a:prstGeom prst="rect">
            <a:avLst/>
          </a:prstGeom>
        </p:spPr>
      </p:pic>
      <p:sp>
        <p:nvSpPr>
          <p:cNvPr id="20" name="Text 15"/>
          <p:cNvSpPr txBox="1"/>
          <p:nvPr/>
        </p:nvSpPr>
        <p:spPr>
          <a:xfrm>
            <a:off x="5250028" y="4663440"/>
            <a:ext cx="1691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Servlets, JSP &amp; Spring</a:t>
            </a:r>
            <a:endParaRPr lang="en-US" sz="1100" dirty="0"/>
          </a:p>
        </p:txBody>
      </p:sp>
      <p:sp>
        <p:nvSpPr>
          <p:cNvPr id="21" name="Text 16"/>
          <p:cNvSpPr txBox="1"/>
          <p:nvPr/>
        </p:nvSpPr>
        <p:spPr>
          <a:xfrm>
            <a:off x="7033108" y="4206240"/>
            <a:ext cx="256032" cy="548640"/>
          </a:xfrm>
          <a:prstGeom prst="rect">
            <a:avLst/>
          </a:prstGeom>
          <a:noFill/>
          <a:ln/>
        </p:spPr>
        <p:txBody>
          <a:bodyPr wrap="square" lIns="0" tIns="0" rIns="0" bIns="0" rtlCol="0" anchor="ctr"/>
          <a:lstStyle/>
          <a:p>
            <a:pPr algn="ctr" indent="0" marL="0">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22" name="Shape 17"/>
          <p:cNvSpPr/>
          <p:nvPr/>
        </p:nvSpPr>
        <p:spPr>
          <a:xfrm>
            <a:off x="7289140" y="3794760"/>
            <a:ext cx="1874520" cy="1371600"/>
          </a:xfrm>
          <a:prstGeom prst="roundRect">
            <a:avLst>
              <a:gd name="adj" fmla="val 4667"/>
            </a:avLst>
          </a:prstGeom>
          <a:solidFill>
            <a:srgbClr val="2B356F"/>
          </a:solidFill>
          <a:ln/>
        </p:spPr>
      </p:sp>
      <p:sp>
        <p:nvSpPr>
          <p:cNvPr id="23" name="Shape 18"/>
          <p:cNvSpPr/>
          <p:nvPr/>
        </p:nvSpPr>
        <p:spPr>
          <a:xfrm>
            <a:off x="7942936" y="3995928"/>
            <a:ext cx="566928" cy="566928"/>
          </a:xfrm>
          <a:prstGeom prst="ellipse">
            <a:avLst/>
          </a:prstGeom>
          <a:solidFill>
            <a:srgbClr val="1E2761"/>
          </a:solidFill>
          <a:ln/>
        </p:spPr>
      </p:sp>
      <p:pic>
        <p:nvPicPr>
          <p:cNvPr id="24" name="Image 3" descr="/home/claude/icons/bolt_white.png">    </p:cNvPr>
          <p:cNvPicPr>
            <a:picLocks noChangeAspect="1"/>
          </p:cNvPicPr>
          <p:nvPr/>
        </p:nvPicPr>
        <p:blipFill>
          <a:blip r:embed="rId4"/>
          <a:stretch>
            <a:fillRect/>
          </a:stretch>
        </p:blipFill>
        <p:spPr>
          <a:xfrm>
            <a:off x="8070494" y="4123487"/>
            <a:ext cx="311810" cy="311810"/>
          </a:xfrm>
          <a:prstGeom prst="rect">
            <a:avLst/>
          </a:prstGeom>
        </p:spPr>
      </p:pic>
      <p:sp>
        <p:nvSpPr>
          <p:cNvPr id="25" name="Text 19"/>
          <p:cNvSpPr txBox="1"/>
          <p:nvPr/>
        </p:nvSpPr>
        <p:spPr>
          <a:xfrm>
            <a:off x="7380580" y="4663440"/>
            <a:ext cx="1691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REST APIs (Spring Boot)</a:t>
            </a:r>
            <a:endParaRPr lang="en-US" sz="1100" dirty="0"/>
          </a:p>
        </p:txBody>
      </p:sp>
      <p:sp>
        <p:nvSpPr>
          <p:cNvPr id="26" name="Text 20"/>
          <p:cNvSpPr txBox="1"/>
          <p:nvPr/>
        </p:nvSpPr>
        <p:spPr>
          <a:xfrm>
            <a:off x="9163660" y="4206240"/>
            <a:ext cx="256032" cy="548640"/>
          </a:xfrm>
          <a:prstGeom prst="rect">
            <a:avLst/>
          </a:prstGeom>
          <a:noFill/>
          <a:ln/>
        </p:spPr>
        <p:txBody>
          <a:bodyPr wrap="square" lIns="0" tIns="0" rIns="0" bIns="0" rtlCol="0" anchor="ctr"/>
          <a:lstStyle/>
          <a:p>
            <a:pPr algn="ctr" indent="0" marL="0">
              <a:buNone/>
            </a:pPr>
            <a:r>
              <a:rPr lang="en-US" sz="2000" b="1" dirty="0">
                <a:solidFill>
                  <a:srgbClr val="D4A24E"/>
                </a:solidFill>
                <a:latin typeface="Calibri" pitchFamily="34" charset="0"/>
                <a:ea typeface="Calibri" pitchFamily="34" charset="-122"/>
                <a:cs typeface="Calibri" pitchFamily="34" charset="-120"/>
              </a:rPr>
              <a:t>→</a:t>
            </a:r>
            <a:endParaRPr lang="en-US" sz="2000" dirty="0"/>
          </a:p>
        </p:txBody>
      </p:sp>
      <p:sp>
        <p:nvSpPr>
          <p:cNvPr id="27" name="Shape 21"/>
          <p:cNvSpPr/>
          <p:nvPr/>
        </p:nvSpPr>
        <p:spPr>
          <a:xfrm>
            <a:off x="9419692" y="3794760"/>
            <a:ext cx="1874520" cy="1371600"/>
          </a:xfrm>
          <a:prstGeom prst="roundRect">
            <a:avLst>
              <a:gd name="adj" fmla="val 4667"/>
            </a:avLst>
          </a:prstGeom>
          <a:solidFill>
            <a:srgbClr val="2B356F"/>
          </a:solidFill>
          <a:ln/>
        </p:spPr>
      </p:sp>
      <p:sp>
        <p:nvSpPr>
          <p:cNvPr id="28" name="Shape 22"/>
          <p:cNvSpPr/>
          <p:nvPr/>
        </p:nvSpPr>
        <p:spPr>
          <a:xfrm>
            <a:off x="10073488" y="3995928"/>
            <a:ext cx="566928" cy="566928"/>
          </a:xfrm>
          <a:prstGeom prst="ellipse">
            <a:avLst/>
          </a:prstGeom>
          <a:solidFill>
            <a:srgbClr val="1E2761"/>
          </a:solidFill>
          <a:ln/>
        </p:spPr>
      </p:sp>
      <p:pic>
        <p:nvPicPr>
          <p:cNvPr id="29" name="Image 4" descr="/home/claude/icons/laptop_white.png">    </p:cNvPr>
          <p:cNvPicPr>
            <a:picLocks noChangeAspect="1"/>
          </p:cNvPicPr>
          <p:nvPr/>
        </p:nvPicPr>
        <p:blipFill>
          <a:blip r:embed="rId5"/>
          <a:stretch>
            <a:fillRect/>
          </a:stretch>
        </p:blipFill>
        <p:spPr>
          <a:xfrm>
            <a:off x="10201046" y="4123487"/>
            <a:ext cx="311810" cy="311810"/>
          </a:xfrm>
          <a:prstGeom prst="rect">
            <a:avLst/>
          </a:prstGeom>
        </p:spPr>
      </p:pic>
      <p:sp>
        <p:nvSpPr>
          <p:cNvPr id="30" name="Text 23"/>
          <p:cNvSpPr txBox="1"/>
          <p:nvPr/>
        </p:nvSpPr>
        <p:spPr>
          <a:xfrm>
            <a:off x="9511132" y="4663440"/>
            <a:ext cx="169164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Full Stack Integration</a:t>
            </a:r>
            <a:endParaRPr lang="en-US" sz="1100" dirty="0"/>
          </a:p>
        </p:txBody>
      </p:sp>
      <p:sp>
        <p:nvSpPr>
          <p:cNvPr id="31" name="Text 2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AEB6DE"/>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32" name="Text 2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AEB6D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PROJECT OBJECTIVES</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B2340"/>
                </a:solidFill>
                <a:latin typeface="Bookman Old Style" pitchFamily="34" charset="0"/>
                <a:ea typeface="Bookman Old Style" pitchFamily="34" charset="-122"/>
                <a:cs typeface="Bookman Old Style" pitchFamily="34" charset="-120"/>
              </a:rPr>
              <a:t>What the Internship Set Out to Achieve</a:t>
            </a:r>
            <a:endParaRPr lang="en-US" sz="3000" dirty="0"/>
          </a:p>
        </p:txBody>
      </p:sp>
      <p:sp>
        <p:nvSpPr>
          <p:cNvPr id="4" name="Shape 2"/>
          <p:cNvSpPr/>
          <p:nvPr/>
        </p:nvSpPr>
        <p:spPr>
          <a:xfrm>
            <a:off x="548640"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5" name="Shape 3"/>
          <p:cNvSpPr/>
          <p:nvPr/>
        </p:nvSpPr>
        <p:spPr>
          <a:xfrm>
            <a:off x="749808" y="1801368"/>
            <a:ext cx="548640" cy="548640"/>
          </a:xfrm>
          <a:prstGeom prst="ellipse">
            <a:avLst/>
          </a:prstGeom>
          <a:solidFill>
            <a:srgbClr val="D7DEF5"/>
          </a:solidFill>
          <a:ln/>
        </p:spPr>
      </p:sp>
      <p:pic>
        <p:nvPicPr>
          <p:cNvPr id="6" name="Image 0" descr="/home/claude/icons/code_navy.png">    </p:cNvPr>
          <p:cNvPicPr>
            <a:picLocks noChangeAspect="1"/>
          </p:cNvPicPr>
          <p:nvPr/>
        </p:nvPicPr>
        <p:blipFill>
          <a:blip r:embed="rId1"/>
          <a:stretch>
            <a:fillRect/>
          </a:stretch>
        </p:blipFill>
        <p:spPr>
          <a:xfrm>
            <a:off x="886968" y="1938528"/>
            <a:ext cx="274320" cy="274320"/>
          </a:xfrm>
          <a:prstGeom prst="rect">
            <a:avLst/>
          </a:prstGeom>
        </p:spPr>
      </p:pic>
      <p:sp>
        <p:nvSpPr>
          <p:cNvPr id="7" name="Text 4"/>
          <p:cNvSpPr txBox="1"/>
          <p:nvPr/>
        </p:nvSpPr>
        <p:spPr>
          <a:xfrm>
            <a:off x="731520" y="246888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Core Java &amp; OOP</a:t>
            </a:r>
            <a:endParaRPr lang="en-US" sz="1300" dirty="0"/>
          </a:p>
        </p:txBody>
      </p:sp>
      <p:sp>
        <p:nvSpPr>
          <p:cNvPr id="8" name="Text 5"/>
          <p:cNvSpPr txBox="1"/>
          <p:nvPr/>
        </p:nvSpPr>
        <p:spPr>
          <a:xfrm>
            <a:off x="731520" y="288036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Strengthen core Java programming and object-oriented concepts.</a:t>
            </a:r>
            <a:endParaRPr lang="en-US" sz="1050" dirty="0"/>
          </a:p>
        </p:txBody>
      </p:sp>
      <p:sp>
        <p:nvSpPr>
          <p:cNvPr id="9" name="Shape 6"/>
          <p:cNvSpPr/>
          <p:nvPr/>
        </p:nvSpPr>
        <p:spPr>
          <a:xfrm>
            <a:off x="3355848"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10" name="Shape 7"/>
          <p:cNvSpPr/>
          <p:nvPr/>
        </p:nvSpPr>
        <p:spPr>
          <a:xfrm>
            <a:off x="3557016" y="1801368"/>
            <a:ext cx="548640" cy="548640"/>
          </a:xfrm>
          <a:prstGeom prst="ellipse">
            <a:avLst/>
          </a:prstGeom>
          <a:solidFill>
            <a:srgbClr val="D7DEF5"/>
          </a:solidFill>
          <a:ln/>
        </p:spPr>
      </p:sp>
      <p:pic>
        <p:nvPicPr>
          <p:cNvPr id="11" name="Image 1" descr="/home/claude/icons/html5_navy.png">    </p:cNvPr>
          <p:cNvPicPr>
            <a:picLocks noChangeAspect="1"/>
          </p:cNvPicPr>
          <p:nvPr/>
        </p:nvPicPr>
        <p:blipFill>
          <a:blip r:embed="rId2"/>
          <a:stretch>
            <a:fillRect/>
          </a:stretch>
        </p:blipFill>
        <p:spPr>
          <a:xfrm>
            <a:off x="3694176" y="1938528"/>
            <a:ext cx="274320" cy="274320"/>
          </a:xfrm>
          <a:prstGeom prst="rect">
            <a:avLst/>
          </a:prstGeom>
        </p:spPr>
      </p:pic>
      <p:sp>
        <p:nvSpPr>
          <p:cNvPr id="12" name="Text 8"/>
          <p:cNvSpPr txBox="1"/>
          <p:nvPr/>
        </p:nvSpPr>
        <p:spPr>
          <a:xfrm>
            <a:off x="3538728" y="246888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Front-End Development</a:t>
            </a:r>
            <a:endParaRPr lang="en-US" sz="1300" dirty="0"/>
          </a:p>
        </p:txBody>
      </p:sp>
      <p:sp>
        <p:nvSpPr>
          <p:cNvPr id="13" name="Text 9"/>
          <p:cNvSpPr txBox="1"/>
          <p:nvPr/>
        </p:nvSpPr>
        <p:spPr>
          <a:xfrm>
            <a:off x="3538728" y="288036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Learn HTML5, CSS3 and JavaScript for web interfaces.</a:t>
            </a:r>
            <a:endParaRPr lang="en-US" sz="1050" dirty="0"/>
          </a:p>
        </p:txBody>
      </p:sp>
      <p:sp>
        <p:nvSpPr>
          <p:cNvPr id="14" name="Shape 10"/>
          <p:cNvSpPr/>
          <p:nvPr/>
        </p:nvSpPr>
        <p:spPr>
          <a:xfrm>
            <a:off x="6163056"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15" name="Shape 11"/>
          <p:cNvSpPr/>
          <p:nvPr/>
        </p:nvSpPr>
        <p:spPr>
          <a:xfrm>
            <a:off x="6364224" y="1801368"/>
            <a:ext cx="548640" cy="548640"/>
          </a:xfrm>
          <a:prstGeom prst="ellipse">
            <a:avLst/>
          </a:prstGeom>
          <a:solidFill>
            <a:srgbClr val="D7DEF5"/>
          </a:solidFill>
          <a:ln/>
        </p:spPr>
      </p:sp>
      <p:pic>
        <p:nvPicPr>
          <p:cNvPr id="16" name="Image 2" descr="/home/claude/icons/server_navy.png">    </p:cNvPr>
          <p:cNvPicPr>
            <a:picLocks noChangeAspect="1"/>
          </p:cNvPicPr>
          <p:nvPr/>
        </p:nvPicPr>
        <p:blipFill>
          <a:blip r:embed="rId3"/>
          <a:stretch>
            <a:fillRect/>
          </a:stretch>
        </p:blipFill>
        <p:spPr>
          <a:xfrm>
            <a:off x="6501384" y="1938528"/>
            <a:ext cx="274320" cy="274320"/>
          </a:xfrm>
          <a:prstGeom prst="rect">
            <a:avLst/>
          </a:prstGeom>
        </p:spPr>
      </p:pic>
      <p:sp>
        <p:nvSpPr>
          <p:cNvPr id="17" name="Text 12"/>
          <p:cNvSpPr txBox="1"/>
          <p:nvPr/>
        </p:nvSpPr>
        <p:spPr>
          <a:xfrm>
            <a:off x="6345936" y="246888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Servlets, JSP &amp; MVC</a:t>
            </a:r>
            <a:endParaRPr lang="en-US" sz="1300" dirty="0"/>
          </a:p>
        </p:txBody>
      </p:sp>
      <p:sp>
        <p:nvSpPr>
          <p:cNvPr id="18" name="Text 13"/>
          <p:cNvSpPr txBox="1"/>
          <p:nvPr/>
        </p:nvSpPr>
        <p:spPr>
          <a:xfrm>
            <a:off x="6345936" y="288036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Understand server-side programming and the MVC design pattern.</a:t>
            </a:r>
            <a:endParaRPr lang="en-US" sz="1050" dirty="0"/>
          </a:p>
        </p:txBody>
      </p:sp>
      <p:sp>
        <p:nvSpPr>
          <p:cNvPr id="19" name="Shape 14"/>
          <p:cNvSpPr/>
          <p:nvPr/>
        </p:nvSpPr>
        <p:spPr>
          <a:xfrm>
            <a:off x="8970264"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20" name="Shape 15"/>
          <p:cNvSpPr/>
          <p:nvPr/>
        </p:nvSpPr>
        <p:spPr>
          <a:xfrm>
            <a:off x="9171432" y="1801368"/>
            <a:ext cx="548640" cy="548640"/>
          </a:xfrm>
          <a:prstGeom prst="ellipse">
            <a:avLst/>
          </a:prstGeom>
          <a:solidFill>
            <a:srgbClr val="D7DEF5"/>
          </a:solidFill>
          <a:ln/>
        </p:spPr>
      </p:sp>
      <p:pic>
        <p:nvPicPr>
          <p:cNvPr id="21" name="Image 3" descr="/home/claude/icons/leaf_navy.png">    </p:cNvPr>
          <p:cNvPicPr>
            <a:picLocks noChangeAspect="1"/>
          </p:cNvPicPr>
          <p:nvPr/>
        </p:nvPicPr>
        <p:blipFill>
          <a:blip r:embed="rId4"/>
          <a:stretch>
            <a:fillRect/>
          </a:stretch>
        </p:blipFill>
        <p:spPr>
          <a:xfrm>
            <a:off x="9308592" y="1938528"/>
            <a:ext cx="274320" cy="274320"/>
          </a:xfrm>
          <a:prstGeom prst="rect">
            <a:avLst/>
          </a:prstGeom>
        </p:spPr>
      </p:pic>
      <p:sp>
        <p:nvSpPr>
          <p:cNvPr id="22" name="Text 16"/>
          <p:cNvSpPr txBox="1"/>
          <p:nvPr/>
        </p:nvSpPr>
        <p:spPr>
          <a:xfrm>
            <a:off x="9153144" y="246888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Spring Framework</a:t>
            </a:r>
            <a:endParaRPr lang="en-US" sz="1300" dirty="0"/>
          </a:p>
        </p:txBody>
      </p:sp>
      <p:sp>
        <p:nvSpPr>
          <p:cNvPr id="23" name="Text 17"/>
          <p:cNvSpPr txBox="1"/>
          <p:nvPr/>
        </p:nvSpPr>
        <p:spPr>
          <a:xfrm>
            <a:off x="9153144" y="288036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Learn Dependency Injection and Inversion of Control.</a:t>
            </a:r>
            <a:endParaRPr lang="en-US" sz="1050" dirty="0"/>
          </a:p>
        </p:txBody>
      </p:sp>
      <p:sp>
        <p:nvSpPr>
          <p:cNvPr id="24" name="Shape 18"/>
          <p:cNvSpPr/>
          <p:nvPr/>
        </p:nvSpPr>
        <p:spPr>
          <a:xfrm>
            <a:off x="548640"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25" name="Shape 19"/>
          <p:cNvSpPr/>
          <p:nvPr/>
        </p:nvSpPr>
        <p:spPr>
          <a:xfrm>
            <a:off x="749808" y="4178808"/>
            <a:ext cx="548640" cy="548640"/>
          </a:xfrm>
          <a:prstGeom prst="ellipse">
            <a:avLst/>
          </a:prstGeom>
          <a:solidFill>
            <a:srgbClr val="D7DEF5"/>
          </a:solidFill>
          <a:ln/>
        </p:spPr>
      </p:sp>
      <p:pic>
        <p:nvPicPr>
          <p:cNvPr id="26" name="Image 4" descr="/home/claude/icons/bolt_navy.png">    </p:cNvPr>
          <p:cNvPicPr>
            <a:picLocks noChangeAspect="1"/>
          </p:cNvPicPr>
          <p:nvPr/>
        </p:nvPicPr>
        <p:blipFill>
          <a:blip r:embed="rId5"/>
          <a:stretch>
            <a:fillRect/>
          </a:stretch>
        </p:blipFill>
        <p:spPr>
          <a:xfrm>
            <a:off x="886968" y="4315968"/>
            <a:ext cx="274320" cy="274320"/>
          </a:xfrm>
          <a:prstGeom prst="rect">
            <a:avLst/>
          </a:prstGeom>
        </p:spPr>
      </p:pic>
      <p:sp>
        <p:nvSpPr>
          <p:cNvPr id="27" name="Text 20"/>
          <p:cNvSpPr txBox="1"/>
          <p:nvPr/>
        </p:nvSpPr>
        <p:spPr>
          <a:xfrm>
            <a:off x="731520" y="484632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RESTful Web Services</a:t>
            </a:r>
            <a:endParaRPr lang="en-US" sz="1300" dirty="0"/>
          </a:p>
        </p:txBody>
      </p:sp>
      <p:sp>
        <p:nvSpPr>
          <p:cNvPr id="28" name="Text 21"/>
          <p:cNvSpPr txBox="1"/>
          <p:nvPr/>
        </p:nvSpPr>
        <p:spPr>
          <a:xfrm>
            <a:off x="731520" y="525780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Build and test REST APIs using Spring Boot.</a:t>
            </a:r>
            <a:endParaRPr lang="en-US" sz="1050" dirty="0"/>
          </a:p>
        </p:txBody>
      </p:sp>
      <p:sp>
        <p:nvSpPr>
          <p:cNvPr id="29" name="Shape 22"/>
          <p:cNvSpPr/>
          <p:nvPr/>
        </p:nvSpPr>
        <p:spPr>
          <a:xfrm>
            <a:off x="3355848"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30" name="Shape 23"/>
          <p:cNvSpPr/>
          <p:nvPr/>
        </p:nvSpPr>
        <p:spPr>
          <a:xfrm>
            <a:off x="3557016" y="4178808"/>
            <a:ext cx="548640" cy="548640"/>
          </a:xfrm>
          <a:prstGeom prst="ellipse">
            <a:avLst/>
          </a:prstGeom>
          <a:solidFill>
            <a:srgbClr val="D7DEF5"/>
          </a:solidFill>
          <a:ln/>
        </p:spPr>
      </p:sp>
      <p:pic>
        <p:nvPicPr>
          <p:cNvPr id="31" name="Image 5" descr="/home/claude/icons/database_navy.png">    </p:cNvPr>
          <p:cNvPicPr>
            <a:picLocks noChangeAspect="1"/>
          </p:cNvPicPr>
          <p:nvPr/>
        </p:nvPicPr>
        <p:blipFill>
          <a:blip r:embed="rId6"/>
          <a:stretch>
            <a:fillRect/>
          </a:stretch>
        </p:blipFill>
        <p:spPr>
          <a:xfrm>
            <a:off x="3694176" y="4315968"/>
            <a:ext cx="274320" cy="274320"/>
          </a:xfrm>
          <a:prstGeom prst="rect">
            <a:avLst/>
          </a:prstGeom>
        </p:spPr>
      </p:pic>
      <p:sp>
        <p:nvSpPr>
          <p:cNvPr id="32" name="Text 24"/>
          <p:cNvSpPr txBox="1"/>
          <p:nvPr/>
        </p:nvSpPr>
        <p:spPr>
          <a:xfrm>
            <a:off x="3538728" y="484632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Database Design (JDBC)</a:t>
            </a:r>
            <a:endParaRPr lang="en-US" sz="1300" dirty="0"/>
          </a:p>
        </p:txBody>
      </p:sp>
      <p:sp>
        <p:nvSpPr>
          <p:cNvPr id="33" name="Text 25"/>
          <p:cNvSpPr txBox="1"/>
          <p:nvPr/>
        </p:nvSpPr>
        <p:spPr>
          <a:xfrm>
            <a:off x="3538728" y="525780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Design relational schemas and integrate via JDBC/MySQL.</a:t>
            </a:r>
            <a:endParaRPr lang="en-US" sz="1050" dirty="0"/>
          </a:p>
        </p:txBody>
      </p:sp>
      <p:sp>
        <p:nvSpPr>
          <p:cNvPr id="34" name="Shape 26"/>
          <p:cNvSpPr/>
          <p:nvPr/>
        </p:nvSpPr>
        <p:spPr>
          <a:xfrm>
            <a:off x="6163056"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35" name="Shape 27"/>
          <p:cNvSpPr/>
          <p:nvPr/>
        </p:nvSpPr>
        <p:spPr>
          <a:xfrm>
            <a:off x="6364224" y="4178808"/>
            <a:ext cx="548640" cy="548640"/>
          </a:xfrm>
          <a:prstGeom prst="ellipse">
            <a:avLst/>
          </a:prstGeom>
          <a:solidFill>
            <a:srgbClr val="D7DEF5"/>
          </a:solidFill>
          <a:ln/>
        </p:spPr>
      </p:sp>
      <p:pic>
        <p:nvPicPr>
          <p:cNvPr id="36" name="Image 6" descr="/home/claude/icons/laptop_navy.png">    </p:cNvPr>
          <p:cNvPicPr>
            <a:picLocks noChangeAspect="1"/>
          </p:cNvPicPr>
          <p:nvPr/>
        </p:nvPicPr>
        <p:blipFill>
          <a:blip r:embed="rId7"/>
          <a:stretch>
            <a:fillRect/>
          </a:stretch>
        </p:blipFill>
        <p:spPr>
          <a:xfrm>
            <a:off x="6501384" y="4315968"/>
            <a:ext cx="274320" cy="274320"/>
          </a:xfrm>
          <a:prstGeom prst="rect">
            <a:avLst/>
          </a:prstGeom>
        </p:spPr>
      </p:pic>
      <p:sp>
        <p:nvSpPr>
          <p:cNvPr id="37" name="Text 28"/>
          <p:cNvSpPr txBox="1"/>
          <p:nvPr/>
        </p:nvSpPr>
        <p:spPr>
          <a:xfrm>
            <a:off x="6345936" y="484632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Full Stack Integration</a:t>
            </a:r>
            <a:endParaRPr lang="en-US" sz="1300" dirty="0"/>
          </a:p>
        </p:txBody>
      </p:sp>
      <p:sp>
        <p:nvSpPr>
          <p:cNvPr id="38" name="Text 29"/>
          <p:cNvSpPr txBox="1"/>
          <p:nvPr/>
        </p:nvSpPr>
        <p:spPr>
          <a:xfrm>
            <a:off x="6345936" y="525780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Combine front-end, back-end and database into one app.</a:t>
            </a:r>
            <a:endParaRPr lang="en-US" sz="1050" dirty="0"/>
          </a:p>
        </p:txBody>
      </p:sp>
      <p:sp>
        <p:nvSpPr>
          <p:cNvPr id="39" name="Shape 30"/>
          <p:cNvSpPr/>
          <p:nvPr/>
        </p:nvSpPr>
        <p:spPr>
          <a:xfrm>
            <a:off x="8970264"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40" name="Shape 31"/>
          <p:cNvSpPr/>
          <p:nvPr/>
        </p:nvSpPr>
        <p:spPr>
          <a:xfrm>
            <a:off x="9171432" y="4178808"/>
            <a:ext cx="548640" cy="548640"/>
          </a:xfrm>
          <a:prstGeom prst="ellipse">
            <a:avLst/>
          </a:prstGeom>
          <a:solidFill>
            <a:srgbClr val="D7DEF5"/>
          </a:solidFill>
          <a:ln/>
        </p:spPr>
      </p:sp>
      <p:pic>
        <p:nvPicPr>
          <p:cNvPr id="41" name="Image 7" descr="/home/claude/icons/check_navy.png">    </p:cNvPr>
          <p:cNvPicPr>
            <a:picLocks noChangeAspect="1"/>
          </p:cNvPicPr>
          <p:nvPr/>
        </p:nvPicPr>
        <p:blipFill>
          <a:blip r:embed="rId8"/>
          <a:stretch>
            <a:fillRect/>
          </a:stretch>
        </p:blipFill>
        <p:spPr>
          <a:xfrm>
            <a:off x="9308592" y="4315968"/>
            <a:ext cx="274320" cy="274320"/>
          </a:xfrm>
          <a:prstGeom prst="rect">
            <a:avLst/>
          </a:prstGeom>
        </p:spPr>
      </p:pic>
      <p:sp>
        <p:nvSpPr>
          <p:cNvPr id="42" name="Text 32"/>
          <p:cNvSpPr txBox="1"/>
          <p:nvPr/>
        </p:nvSpPr>
        <p:spPr>
          <a:xfrm>
            <a:off x="9153144" y="4846320"/>
            <a:ext cx="2240280" cy="411480"/>
          </a:xfrm>
          <a:prstGeom prst="rect">
            <a:avLst/>
          </a:prstGeom>
          <a:noFill/>
          <a:ln/>
        </p:spPr>
        <p:txBody>
          <a:bodyPr wrap="square" lIns="0" tIns="0" rIns="0" bIns="0" rtlCol="0" anchor="ctr"/>
          <a:lstStyle/>
          <a:p>
            <a:pPr indent="0" marL="0">
              <a:buNone/>
            </a:pPr>
            <a:r>
              <a:rPr lang="en-US" sz="1300" b="1" dirty="0">
                <a:solidFill>
                  <a:srgbClr val="1B2340"/>
                </a:solidFill>
                <a:latin typeface="Calibri" pitchFamily="34" charset="0"/>
                <a:ea typeface="Calibri" pitchFamily="34" charset="-122"/>
                <a:cs typeface="Calibri" pitchFamily="34" charset="-120"/>
              </a:rPr>
              <a:t>Final Assessment</a:t>
            </a:r>
            <a:endParaRPr lang="en-US" sz="1300" dirty="0"/>
          </a:p>
        </p:txBody>
      </p:sp>
      <p:sp>
        <p:nvSpPr>
          <p:cNvPr id="43" name="Text 33"/>
          <p:cNvSpPr txBox="1"/>
          <p:nvPr/>
        </p:nvSpPr>
        <p:spPr>
          <a:xfrm>
            <a:off x="9153144" y="5257800"/>
            <a:ext cx="2240280" cy="777240"/>
          </a:xfrm>
          <a:prstGeom prst="rect">
            <a:avLst/>
          </a:prstGeom>
          <a:noFill/>
          <a:ln/>
        </p:spPr>
        <p:txBody>
          <a:bodyPr wrap="square" lIns="0" tIns="0" rIns="0" bIns="0" rtlCol="0" anchor="ctr"/>
          <a:lstStyle/>
          <a:p>
            <a:pPr indent="0" marL="0">
              <a:lnSpc>
                <a:spcPct val="110000"/>
              </a:lnSpc>
              <a:buNone/>
            </a:pPr>
            <a:r>
              <a:rPr lang="en-US" sz="1050" dirty="0">
                <a:solidFill>
                  <a:srgbClr val="6B7280"/>
                </a:solidFill>
                <a:latin typeface="Calibri" pitchFamily="34" charset="0"/>
                <a:ea typeface="Calibri" pitchFamily="34" charset="-122"/>
                <a:cs typeface="Calibri" pitchFamily="34" charset="-120"/>
              </a:rPr>
              <a:t>Clear the Final Assessment / Internship Grade Point Assessment.</a:t>
            </a:r>
            <a:endParaRPr lang="en-US" sz="1050" dirty="0"/>
          </a:p>
        </p:txBody>
      </p:sp>
      <p:sp>
        <p:nvSpPr>
          <p:cNvPr id="44" name="Text 3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45" name="Text 3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TECHNOLOGIES &amp; TOOLS</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B2340"/>
                </a:solidFill>
                <a:latin typeface="Bookman Old Style" pitchFamily="34" charset="0"/>
                <a:ea typeface="Bookman Old Style" pitchFamily="34" charset="-122"/>
                <a:cs typeface="Bookman Old Style" pitchFamily="34" charset="-120"/>
              </a:rPr>
              <a:t>The Toolkit Behind the Internship</a:t>
            </a:r>
            <a:endParaRPr lang="en-US" sz="3000" dirty="0"/>
          </a:p>
        </p:txBody>
      </p:sp>
      <p:sp>
        <p:nvSpPr>
          <p:cNvPr id="4" name="Shape 2"/>
          <p:cNvSpPr/>
          <p:nvPr/>
        </p:nvSpPr>
        <p:spPr>
          <a:xfrm>
            <a:off x="548640" y="173736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5" name="Shape 3"/>
          <p:cNvSpPr/>
          <p:nvPr/>
        </p:nvSpPr>
        <p:spPr>
          <a:xfrm>
            <a:off x="1463040" y="1993392"/>
            <a:ext cx="777240" cy="777240"/>
          </a:xfrm>
          <a:prstGeom prst="ellipse">
            <a:avLst/>
          </a:prstGeom>
          <a:solidFill>
            <a:srgbClr val="D7DEF5"/>
          </a:solidFill>
          <a:ln/>
        </p:spPr>
      </p:sp>
      <p:pic>
        <p:nvPicPr>
          <p:cNvPr id="6" name="Image 0" descr="/home/claude/icons/code_navy.png">    </p:cNvPr>
          <p:cNvPicPr>
            <a:picLocks noChangeAspect="1"/>
          </p:cNvPicPr>
          <p:nvPr/>
        </p:nvPicPr>
        <p:blipFill>
          <a:blip r:embed="rId1"/>
          <a:stretch>
            <a:fillRect/>
          </a:stretch>
        </p:blipFill>
        <p:spPr>
          <a:xfrm>
            <a:off x="1657350" y="2187702"/>
            <a:ext cx="388620" cy="388620"/>
          </a:xfrm>
          <a:prstGeom prst="rect">
            <a:avLst/>
          </a:prstGeom>
        </p:spPr>
      </p:pic>
      <p:sp>
        <p:nvSpPr>
          <p:cNvPr id="7" name="Text 4"/>
          <p:cNvSpPr txBox="1"/>
          <p:nvPr/>
        </p:nvSpPr>
        <p:spPr>
          <a:xfrm>
            <a:off x="685800" y="290779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Java</a:t>
            </a:r>
            <a:endParaRPr lang="en-US" sz="1300" dirty="0"/>
          </a:p>
        </p:txBody>
      </p:sp>
      <p:sp>
        <p:nvSpPr>
          <p:cNvPr id="8" name="Text 5"/>
          <p:cNvSpPr txBox="1"/>
          <p:nvPr/>
        </p:nvSpPr>
        <p:spPr>
          <a:xfrm>
            <a:off x="685800" y="321868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Core language &amp; OOP</a:t>
            </a:r>
            <a:endParaRPr lang="en-US" sz="1000" dirty="0"/>
          </a:p>
        </p:txBody>
      </p:sp>
      <p:sp>
        <p:nvSpPr>
          <p:cNvPr id="9" name="Shape 6"/>
          <p:cNvSpPr/>
          <p:nvPr/>
        </p:nvSpPr>
        <p:spPr>
          <a:xfrm>
            <a:off x="3355848" y="173736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10" name="Shape 7"/>
          <p:cNvSpPr/>
          <p:nvPr/>
        </p:nvSpPr>
        <p:spPr>
          <a:xfrm>
            <a:off x="4270248" y="1993392"/>
            <a:ext cx="777240" cy="777240"/>
          </a:xfrm>
          <a:prstGeom prst="ellipse">
            <a:avLst/>
          </a:prstGeom>
          <a:solidFill>
            <a:srgbClr val="D7DEF5"/>
          </a:solidFill>
          <a:ln/>
        </p:spPr>
      </p:sp>
      <p:pic>
        <p:nvPicPr>
          <p:cNvPr id="11" name="Image 1" descr="/home/claude/icons/html5_navy.png">    </p:cNvPr>
          <p:cNvPicPr>
            <a:picLocks noChangeAspect="1"/>
          </p:cNvPicPr>
          <p:nvPr/>
        </p:nvPicPr>
        <p:blipFill>
          <a:blip r:embed="rId2"/>
          <a:stretch>
            <a:fillRect/>
          </a:stretch>
        </p:blipFill>
        <p:spPr>
          <a:xfrm>
            <a:off x="4464558" y="2187702"/>
            <a:ext cx="388620" cy="388620"/>
          </a:xfrm>
          <a:prstGeom prst="rect">
            <a:avLst/>
          </a:prstGeom>
        </p:spPr>
      </p:pic>
      <p:sp>
        <p:nvSpPr>
          <p:cNvPr id="12" name="Text 8"/>
          <p:cNvSpPr txBox="1"/>
          <p:nvPr/>
        </p:nvSpPr>
        <p:spPr>
          <a:xfrm>
            <a:off x="3493008" y="290779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HTML5 / CSS3</a:t>
            </a:r>
            <a:endParaRPr lang="en-US" sz="1300" dirty="0"/>
          </a:p>
        </p:txBody>
      </p:sp>
      <p:sp>
        <p:nvSpPr>
          <p:cNvPr id="13" name="Text 9"/>
          <p:cNvSpPr txBox="1"/>
          <p:nvPr/>
        </p:nvSpPr>
        <p:spPr>
          <a:xfrm>
            <a:off x="3493008" y="321868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Front-end structure &amp; styling</a:t>
            </a:r>
            <a:endParaRPr lang="en-US" sz="1000" dirty="0"/>
          </a:p>
        </p:txBody>
      </p:sp>
      <p:sp>
        <p:nvSpPr>
          <p:cNvPr id="14" name="Shape 10"/>
          <p:cNvSpPr/>
          <p:nvPr/>
        </p:nvSpPr>
        <p:spPr>
          <a:xfrm>
            <a:off x="6163056" y="173736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15" name="Shape 11"/>
          <p:cNvSpPr/>
          <p:nvPr/>
        </p:nvSpPr>
        <p:spPr>
          <a:xfrm>
            <a:off x="7077456" y="1993392"/>
            <a:ext cx="777240" cy="777240"/>
          </a:xfrm>
          <a:prstGeom prst="ellipse">
            <a:avLst/>
          </a:prstGeom>
          <a:solidFill>
            <a:srgbClr val="D7DEF5"/>
          </a:solidFill>
          <a:ln/>
        </p:spPr>
      </p:sp>
      <p:pic>
        <p:nvPicPr>
          <p:cNvPr id="16" name="Image 2" descr="/home/claude/icons/js_navy.png">    </p:cNvPr>
          <p:cNvPicPr>
            <a:picLocks noChangeAspect="1"/>
          </p:cNvPicPr>
          <p:nvPr/>
        </p:nvPicPr>
        <p:blipFill>
          <a:blip r:embed="rId3"/>
          <a:stretch>
            <a:fillRect/>
          </a:stretch>
        </p:blipFill>
        <p:spPr>
          <a:xfrm>
            <a:off x="7271766" y="2187702"/>
            <a:ext cx="388620" cy="388620"/>
          </a:xfrm>
          <a:prstGeom prst="rect">
            <a:avLst/>
          </a:prstGeom>
        </p:spPr>
      </p:pic>
      <p:sp>
        <p:nvSpPr>
          <p:cNvPr id="17" name="Text 12"/>
          <p:cNvSpPr txBox="1"/>
          <p:nvPr/>
        </p:nvSpPr>
        <p:spPr>
          <a:xfrm>
            <a:off x="6300216" y="290779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JavaScript</a:t>
            </a:r>
            <a:endParaRPr lang="en-US" sz="1300" dirty="0"/>
          </a:p>
        </p:txBody>
      </p:sp>
      <p:sp>
        <p:nvSpPr>
          <p:cNvPr id="18" name="Text 13"/>
          <p:cNvSpPr txBox="1"/>
          <p:nvPr/>
        </p:nvSpPr>
        <p:spPr>
          <a:xfrm>
            <a:off x="6300216" y="321868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Client-side interactivity</a:t>
            </a:r>
            <a:endParaRPr lang="en-US" sz="1000" dirty="0"/>
          </a:p>
        </p:txBody>
      </p:sp>
      <p:sp>
        <p:nvSpPr>
          <p:cNvPr id="19" name="Shape 14"/>
          <p:cNvSpPr/>
          <p:nvPr/>
        </p:nvSpPr>
        <p:spPr>
          <a:xfrm>
            <a:off x="8970264" y="173736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20" name="Shape 15"/>
          <p:cNvSpPr/>
          <p:nvPr/>
        </p:nvSpPr>
        <p:spPr>
          <a:xfrm>
            <a:off x="9884664" y="1993392"/>
            <a:ext cx="777240" cy="777240"/>
          </a:xfrm>
          <a:prstGeom prst="ellipse">
            <a:avLst/>
          </a:prstGeom>
          <a:solidFill>
            <a:srgbClr val="D7DEF5"/>
          </a:solidFill>
          <a:ln/>
        </p:spPr>
      </p:sp>
      <p:pic>
        <p:nvPicPr>
          <p:cNvPr id="21" name="Image 3" descr="/home/claude/icons/server_navy.png">    </p:cNvPr>
          <p:cNvPicPr>
            <a:picLocks noChangeAspect="1"/>
          </p:cNvPicPr>
          <p:nvPr/>
        </p:nvPicPr>
        <p:blipFill>
          <a:blip r:embed="rId4"/>
          <a:stretch>
            <a:fillRect/>
          </a:stretch>
        </p:blipFill>
        <p:spPr>
          <a:xfrm>
            <a:off x="10078974" y="2187702"/>
            <a:ext cx="388620" cy="388620"/>
          </a:xfrm>
          <a:prstGeom prst="rect">
            <a:avLst/>
          </a:prstGeom>
        </p:spPr>
      </p:pic>
      <p:sp>
        <p:nvSpPr>
          <p:cNvPr id="22" name="Text 16"/>
          <p:cNvSpPr txBox="1"/>
          <p:nvPr/>
        </p:nvSpPr>
        <p:spPr>
          <a:xfrm>
            <a:off x="9107424" y="290779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Servlets &amp; JSP</a:t>
            </a:r>
            <a:endParaRPr lang="en-US" sz="1300" dirty="0"/>
          </a:p>
        </p:txBody>
      </p:sp>
      <p:sp>
        <p:nvSpPr>
          <p:cNvPr id="23" name="Text 17"/>
          <p:cNvSpPr txBox="1"/>
          <p:nvPr/>
        </p:nvSpPr>
        <p:spPr>
          <a:xfrm>
            <a:off x="9107424" y="321868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Server-side programming (MVC)</a:t>
            </a:r>
            <a:endParaRPr lang="en-US" sz="1000" dirty="0"/>
          </a:p>
        </p:txBody>
      </p:sp>
      <p:sp>
        <p:nvSpPr>
          <p:cNvPr id="24" name="Shape 18"/>
          <p:cNvSpPr/>
          <p:nvPr/>
        </p:nvSpPr>
        <p:spPr>
          <a:xfrm>
            <a:off x="548640" y="393192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25" name="Shape 19"/>
          <p:cNvSpPr/>
          <p:nvPr/>
        </p:nvSpPr>
        <p:spPr>
          <a:xfrm>
            <a:off x="1463040" y="4187952"/>
            <a:ext cx="777240" cy="777240"/>
          </a:xfrm>
          <a:prstGeom prst="ellipse">
            <a:avLst/>
          </a:prstGeom>
          <a:solidFill>
            <a:srgbClr val="D7DEF5"/>
          </a:solidFill>
          <a:ln/>
        </p:spPr>
      </p:sp>
      <p:pic>
        <p:nvPicPr>
          <p:cNvPr id="26" name="Image 4" descr="/home/claude/icons/leaf_navy.png">    </p:cNvPr>
          <p:cNvPicPr>
            <a:picLocks noChangeAspect="1"/>
          </p:cNvPicPr>
          <p:nvPr/>
        </p:nvPicPr>
        <p:blipFill>
          <a:blip r:embed="rId5"/>
          <a:stretch>
            <a:fillRect/>
          </a:stretch>
        </p:blipFill>
        <p:spPr>
          <a:xfrm>
            <a:off x="1657350" y="4382262"/>
            <a:ext cx="388620" cy="388620"/>
          </a:xfrm>
          <a:prstGeom prst="rect">
            <a:avLst/>
          </a:prstGeom>
        </p:spPr>
      </p:pic>
      <p:sp>
        <p:nvSpPr>
          <p:cNvPr id="27" name="Text 20"/>
          <p:cNvSpPr txBox="1"/>
          <p:nvPr/>
        </p:nvSpPr>
        <p:spPr>
          <a:xfrm>
            <a:off x="685800" y="510235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Spring</a:t>
            </a:r>
            <a:endParaRPr lang="en-US" sz="1300" dirty="0"/>
          </a:p>
        </p:txBody>
      </p:sp>
      <p:sp>
        <p:nvSpPr>
          <p:cNvPr id="28" name="Text 21"/>
          <p:cNvSpPr txBox="1"/>
          <p:nvPr/>
        </p:nvSpPr>
        <p:spPr>
          <a:xfrm>
            <a:off x="685800" y="541324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DI &amp; Inversion of Control</a:t>
            </a:r>
            <a:endParaRPr lang="en-US" sz="1000" dirty="0"/>
          </a:p>
        </p:txBody>
      </p:sp>
      <p:sp>
        <p:nvSpPr>
          <p:cNvPr id="29" name="Shape 22"/>
          <p:cNvSpPr/>
          <p:nvPr/>
        </p:nvSpPr>
        <p:spPr>
          <a:xfrm>
            <a:off x="3355848" y="393192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30" name="Shape 23"/>
          <p:cNvSpPr/>
          <p:nvPr/>
        </p:nvSpPr>
        <p:spPr>
          <a:xfrm>
            <a:off x="4270248" y="4187952"/>
            <a:ext cx="777240" cy="777240"/>
          </a:xfrm>
          <a:prstGeom prst="ellipse">
            <a:avLst/>
          </a:prstGeom>
          <a:solidFill>
            <a:srgbClr val="D7DEF5"/>
          </a:solidFill>
          <a:ln/>
        </p:spPr>
      </p:sp>
      <p:pic>
        <p:nvPicPr>
          <p:cNvPr id="31" name="Image 5" descr="/home/claude/icons/bolt_navy.png">    </p:cNvPr>
          <p:cNvPicPr>
            <a:picLocks noChangeAspect="1"/>
          </p:cNvPicPr>
          <p:nvPr/>
        </p:nvPicPr>
        <p:blipFill>
          <a:blip r:embed="rId6"/>
          <a:stretch>
            <a:fillRect/>
          </a:stretch>
        </p:blipFill>
        <p:spPr>
          <a:xfrm>
            <a:off x="4464558" y="4382262"/>
            <a:ext cx="388620" cy="388620"/>
          </a:xfrm>
          <a:prstGeom prst="rect">
            <a:avLst/>
          </a:prstGeom>
        </p:spPr>
      </p:pic>
      <p:sp>
        <p:nvSpPr>
          <p:cNvPr id="32" name="Text 24"/>
          <p:cNvSpPr txBox="1"/>
          <p:nvPr/>
        </p:nvSpPr>
        <p:spPr>
          <a:xfrm>
            <a:off x="3493008" y="510235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Spring Boot</a:t>
            </a:r>
            <a:endParaRPr lang="en-US" sz="1300" dirty="0"/>
          </a:p>
        </p:txBody>
      </p:sp>
      <p:sp>
        <p:nvSpPr>
          <p:cNvPr id="33" name="Text 25"/>
          <p:cNvSpPr txBox="1"/>
          <p:nvPr/>
        </p:nvSpPr>
        <p:spPr>
          <a:xfrm>
            <a:off x="3493008" y="541324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RESTful web services</a:t>
            </a:r>
            <a:endParaRPr lang="en-US" sz="1000" dirty="0"/>
          </a:p>
        </p:txBody>
      </p:sp>
      <p:sp>
        <p:nvSpPr>
          <p:cNvPr id="34" name="Shape 26"/>
          <p:cNvSpPr/>
          <p:nvPr/>
        </p:nvSpPr>
        <p:spPr>
          <a:xfrm>
            <a:off x="6163056" y="393192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35" name="Shape 27"/>
          <p:cNvSpPr/>
          <p:nvPr/>
        </p:nvSpPr>
        <p:spPr>
          <a:xfrm>
            <a:off x="7077456" y="4187952"/>
            <a:ext cx="777240" cy="777240"/>
          </a:xfrm>
          <a:prstGeom prst="ellipse">
            <a:avLst/>
          </a:prstGeom>
          <a:solidFill>
            <a:srgbClr val="D7DEF5"/>
          </a:solidFill>
          <a:ln/>
        </p:spPr>
      </p:sp>
      <p:pic>
        <p:nvPicPr>
          <p:cNvPr id="36" name="Image 6" descr="/home/claude/icons/database_navy.png">    </p:cNvPr>
          <p:cNvPicPr>
            <a:picLocks noChangeAspect="1"/>
          </p:cNvPicPr>
          <p:nvPr/>
        </p:nvPicPr>
        <p:blipFill>
          <a:blip r:embed="rId7"/>
          <a:stretch>
            <a:fillRect/>
          </a:stretch>
        </p:blipFill>
        <p:spPr>
          <a:xfrm>
            <a:off x="7271766" y="4382262"/>
            <a:ext cx="388620" cy="388620"/>
          </a:xfrm>
          <a:prstGeom prst="rect">
            <a:avLst/>
          </a:prstGeom>
        </p:spPr>
      </p:pic>
      <p:sp>
        <p:nvSpPr>
          <p:cNvPr id="37" name="Text 28"/>
          <p:cNvSpPr txBox="1"/>
          <p:nvPr/>
        </p:nvSpPr>
        <p:spPr>
          <a:xfrm>
            <a:off x="6300216" y="510235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MySQL &amp; JDBC</a:t>
            </a:r>
            <a:endParaRPr lang="en-US" sz="1300" dirty="0"/>
          </a:p>
        </p:txBody>
      </p:sp>
      <p:sp>
        <p:nvSpPr>
          <p:cNvPr id="38" name="Text 29"/>
          <p:cNvSpPr txBox="1"/>
          <p:nvPr/>
        </p:nvSpPr>
        <p:spPr>
          <a:xfrm>
            <a:off x="6300216" y="541324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Relational data &amp; connectivity</a:t>
            </a:r>
            <a:endParaRPr lang="en-US" sz="1000" dirty="0"/>
          </a:p>
        </p:txBody>
      </p:sp>
      <p:sp>
        <p:nvSpPr>
          <p:cNvPr id="39" name="Shape 30"/>
          <p:cNvSpPr/>
          <p:nvPr/>
        </p:nvSpPr>
        <p:spPr>
          <a:xfrm>
            <a:off x="8970264" y="3931920"/>
            <a:ext cx="2606040" cy="1965960"/>
          </a:xfrm>
          <a:prstGeom prst="roundRect">
            <a:avLst>
              <a:gd name="adj" fmla="val 3256"/>
            </a:avLst>
          </a:prstGeom>
          <a:solidFill>
            <a:srgbClr val="FFFFFF"/>
          </a:solidFill>
          <a:ln/>
          <a:effectLst>
            <a:outerShdw sx="100000" sy="100000" kx="0" ky="0" algn="bl" rotWithShape="0" blurRad="76200" dist="25400" dir="5400000">
              <a:srgbClr val="1E2761">
                <a:alpha val="10000"/>
              </a:srgbClr>
            </a:outerShdw>
          </a:effectLst>
        </p:spPr>
      </p:sp>
      <p:sp>
        <p:nvSpPr>
          <p:cNvPr id="40" name="Shape 31"/>
          <p:cNvSpPr/>
          <p:nvPr/>
        </p:nvSpPr>
        <p:spPr>
          <a:xfrm>
            <a:off x="9884664" y="4187952"/>
            <a:ext cx="777240" cy="777240"/>
          </a:xfrm>
          <a:prstGeom prst="ellipse">
            <a:avLst/>
          </a:prstGeom>
          <a:solidFill>
            <a:srgbClr val="D7DEF5"/>
          </a:solidFill>
          <a:ln/>
        </p:spPr>
      </p:sp>
      <p:pic>
        <p:nvPicPr>
          <p:cNvPr id="41" name="Image 7" descr="/home/claude/icons/tools_navy.png">    </p:cNvPr>
          <p:cNvPicPr>
            <a:picLocks noChangeAspect="1"/>
          </p:cNvPicPr>
          <p:nvPr/>
        </p:nvPicPr>
        <p:blipFill>
          <a:blip r:embed="rId8"/>
          <a:stretch>
            <a:fillRect/>
          </a:stretch>
        </p:blipFill>
        <p:spPr>
          <a:xfrm>
            <a:off x="10078974" y="4382262"/>
            <a:ext cx="388620" cy="388620"/>
          </a:xfrm>
          <a:prstGeom prst="rect">
            <a:avLst/>
          </a:prstGeom>
        </p:spPr>
      </p:pic>
      <p:sp>
        <p:nvSpPr>
          <p:cNvPr id="42" name="Text 32"/>
          <p:cNvSpPr txBox="1"/>
          <p:nvPr/>
        </p:nvSpPr>
        <p:spPr>
          <a:xfrm>
            <a:off x="9107424" y="5102352"/>
            <a:ext cx="2331720" cy="320040"/>
          </a:xfrm>
          <a:prstGeom prst="rect">
            <a:avLst/>
          </a:prstGeom>
          <a:noFill/>
          <a:ln/>
        </p:spPr>
        <p:txBody>
          <a:bodyPr wrap="square" lIns="0" tIns="0" rIns="0" bIns="0" rtlCol="0" anchor="ctr"/>
          <a:lstStyle/>
          <a:p>
            <a:pPr algn="ctr" indent="0" marL="0">
              <a:buNone/>
            </a:pPr>
            <a:r>
              <a:rPr lang="en-US" sz="1300" b="1" dirty="0">
                <a:solidFill>
                  <a:srgbClr val="1B2340"/>
                </a:solidFill>
                <a:latin typeface="Calibri" pitchFamily="34" charset="0"/>
                <a:ea typeface="Calibri" pitchFamily="34" charset="-122"/>
                <a:cs typeface="Calibri" pitchFamily="34" charset="-120"/>
              </a:rPr>
              <a:t>Eclipse / Postman / Git</a:t>
            </a:r>
            <a:endParaRPr lang="en-US" sz="1300" dirty="0"/>
          </a:p>
        </p:txBody>
      </p:sp>
      <p:sp>
        <p:nvSpPr>
          <p:cNvPr id="43" name="Text 33"/>
          <p:cNvSpPr txBox="1"/>
          <p:nvPr/>
        </p:nvSpPr>
        <p:spPr>
          <a:xfrm>
            <a:off x="9107424" y="5413248"/>
            <a:ext cx="2331720" cy="411480"/>
          </a:xfrm>
          <a:prstGeom prst="rect">
            <a:avLst/>
          </a:prstGeom>
          <a:noFill/>
          <a:ln/>
        </p:spPr>
        <p:txBody>
          <a:bodyPr wrap="square" lIns="0" tIns="0" rIns="0" bIns="0" rtlCol="0" anchor="ctr"/>
          <a:lstStyle/>
          <a:p>
            <a:pPr algn="ctr" indent="0" marL="0">
              <a:buNone/>
            </a:pPr>
            <a:r>
              <a:rPr lang="en-US" sz="1000" dirty="0">
                <a:solidFill>
                  <a:srgbClr val="6B7280"/>
                </a:solidFill>
                <a:latin typeface="Calibri" pitchFamily="34" charset="0"/>
                <a:ea typeface="Calibri" pitchFamily="34" charset="-122"/>
                <a:cs typeface="Calibri" pitchFamily="34" charset="-120"/>
              </a:rPr>
              <a:t>Dev, testing &amp; version control</a:t>
            </a:r>
            <a:endParaRPr lang="en-US" sz="1000" dirty="0"/>
          </a:p>
        </p:txBody>
      </p:sp>
      <p:sp>
        <p:nvSpPr>
          <p:cNvPr id="44" name="Text 34"/>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45" name="Text 35"/>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From Core Java to a Deployed Web App</a:t>
            </a:r>
            <a:endParaRPr lang="en-US" sz="3000" dirty="0"/>
          </a:p>
        </p:txBody>
      </p:sp>
      <p:sp>
        <p:nvSpPr>
          <p:cNvPr id="4" name="Shape 2"/>
          <p:cNvSpPr/>
          <p:nvPr/>
        </p:nvSpPr>
        <p:spPr>
          <a:xfrm>
            <a:off x="548640" y="1508760"/>
            <a:ext cx="11064240" cy="713232"/>
          </a:xfrm>
          <a:prstGeom prst="roundRect">
            <a:avLst>
              <a:gd name="adj" fmla="val 6410"/>
            </a:avLst>
          </a:prstGeom>
          <a:solidFill>
            <a:srgbClr val="242E6E"/>
          </a:solidFill>
          <a:ln/>
        </p:spPr>
      </p:sp>
      <p:sp>
        <p:nvSpPr>
          <p:cNvPr id="5" name="Shape 3"/>
          <p:cNvSpPr/>
          <p:nvPr/>
        </p:nvSpPr>
        <p:spPr>
          <a:xfrm>
            <a:off x="749808" y="1627632"/>
            <a:ext cx="475488" cy="475488"/>
          </a:xfrm>
          <a:prstGeom prst="ellipse">
            <a:avLst/>
          </a:prstGeom>
          <a:solidFill>
            <a:srgbClr val="1E2761"/>
          </a:solidFill>
          <a:ln/>
        </p:spPr>
      </p:sp>
      <p:pic>
        <p:nvPicPr>
          <p:cNvPr id="6" name="Image 0" descr="/home/claude/icons/code_white.png">    </p:cNvPr>
          <p:cNvPicPr>
            <a:picLocks noChangeAspect="1"/>
          </p:cNvPicPr>
          <p:nvPr/>
        </p:nvPicPr>
        <p:blipFill>
          <a:blip r:embed="rId1"/>
          <a:stretch>
            <a:fillRect/>
          </a:stretch>
        </p:blipFill>
        <p:spPr>
          <a:xfrm>
            <a:off x="856793" y="1734617"/>
            <a:ext cx="261518" cy="261518"/>
          </a:xfrm>
          <a:prstGeom prst="rect">
            <a:avLst/>
          </a:prstGeom>
        </p:spPr>
      </p:pic>
      <p:sp>
        <p:nvSpPr>
          <p:cNvPr id="7" name="Text 4"/>
          <p:cNvSpPr txBox="1"/>
          <p:nvPr/>
        </p:nvSpPr>
        <p:spPr>
          <a:xfrm>
            <a:off x="1417320" y="1508760"/>
            <a:ext cx="3291840" cy="7132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Presentation Layer</a:t>
            </a:r>
            <a:endParaRPr lang="en-US" sz="1350" dirty="0"/>
          </a:p>
        </p:txBody>
      </p:sp>
      <p:sp>
        <p:nvSpPr>
          <p:cNvPr id="8" name="Text 5"/>
          <p:cNvSpPr txBox="1"/>
          <p:nvPr/>
        </p:nvSpPr>
        <p:spPr>
          <a:xfrm>
            <a:off x="4846320" y="1508760"/>
            <a:ext cx="6583680" cy="713232"/>
          </a:xfrm>
          <a:prstGeom prst="rect">
            <a:avLst/>
          </a:prstGeom>
          <a:noFill/>
          <a:ln/>
        </p:spPr>
        <p:txBody>
          <a:bodyPr wrap="square" lIns="0" tIns="0" rIns="0" bIns="0" rtlCol="0" anchor="ctr"/>
          <a:lstStyle/>
          <a:p>
            <a:pPr indent="0" marL="0">
              <a:buNone/>
            </a:pPr>
            <a:r>
              <a:rPr lang="en-US" sz="1200" dirty="0">
                <a:solidFill>
                  <a:srgbClr val="CBD3F0"/>
                </a:solidFill>
                <a:latin typeface="Calibri" pitchFamily="34" charset="0"/>
                <a:ea typeface="Calibri" pitchFamily="34" charset="-122"/>
                <a:cs typeface="Calibri" pitchFamily="34" charset="-120"/>
              </a:rPr>
              <a:t>User interface built using HTML5, CSS3 and JavaScript.</a:t>
            </a:r>
            <a:endParaRPr lang="en-US" sz="1200" dirty="0"/>
          </a:p>
        </p:txBody>
      </p:sp>
      <p:sp>
        <p:nvSpPr>
          <p:cNvPr id="9" name="Text 6"/>
          <p:cNvSpPr txBox="1"/>
          <p:nvPr/>
        </p:nvSpPr>
        <p:spPr>
          <a:xfrm>
            <a:off x="868680" y="2203704"/>
            <a:ext cx="274320" cy="146304"/>
          </a:xfrm>
          <a:prstGeom prst="rect">
            <a:avLst/>
          </a:prstGeom>
          <a:noFill/>
          <a:ln/>
        </p:spPr>
        <p:txBody>
          <a:bodyPr wrap="square" lIns="0" tIns="0" rIns="0" bIns="0" rtlCol="0" anchor="ctr"/>
          <a:lstStyle/>
          <a:p>
            <a:pPr algn="ctr" indent="0" marL="0">
              <a:buNone/>
            </a:pPr>
            <a:r>
              <a:rPr lang="en-US" sz="900" dirty="0">
                <a:solidFill>
                  <a:srgbClr val="D4A24E"/>
                </a:solidFill>
              </a:rPr>
              <a:t>↓</a:t>
            </a:r>
            <a:endParaRPr lang="en-US" sz="900" dirty="0"/>
          </a:p>
        </p:txBody>
      </p:sp>
      <p:sp>
        <p:nvSpPr>
          <p:cNvPr id="10" name="Shape 7"/>
          <p:cNvSpPr/>
          <p:nvPr/>
        </p:nvSpPr>
        <p:spPr>
          <a:xfrm>
            <a:off x="548640" y="2276856"/>
            <a:ext cx="11064240" cy="713232"/>
          </a:xfrm>
          <a:prstGeom prst="roundRect">
            <a:avLst>
              <a:gd name="adj" fmla="val 6410"/>
            </a:avLst>
          </a:prstGeom>
          <a:solidFill>
            <a:srgbClr val="242E6E"/>
          </a:solidFill>
          <a:ln/>
        </p:spPr>
      </p:sp>
      <p:sp>
        <p:nvSpPr>
          <p:cNvPr id="11" name="Shape 8"/>
          <p:cNvSpPr/>
          <p:nvPr/>
        </p:nvSpPr>
        <p:spPr>
          <a:xfrm>
            <a:off x="749808" y="2395728"/>
            <a:ext cx="475488" cy="475488"/>
          </a:xfrm>
          <a:prstGeom prst="ellipse">
            <a:avLst/>
          </a:prstGeom>
          <a:solidFill>
            <a:srgbClr val="1E2761"/>
          </a:solidFill>
          <a:ln/>
        </p:spPr>
      </p:sp>
      <p:pic>
        <p:nvPicPr>
          <p:cNvPr id="12" name="Image 1" descr="/home/claude/icons/server_white.png">    </p:cNvPr>
          <p:cNvPicPr>
            <a:picLocks noChangeAspect="1"/>
          </p:cNvPicPr>
          <p:nvPr/>
        </p:nvPicPr>
        <p:blipFill>
          <a:blip r:embed="rId2"/>
          <a:stretch>
            <a:fillRect/>
          </a:stretch>
        </p:blipFill>
        <p:spPr>
          <a:xfrm>
            <a:off x="856793" y="2502713"/>
            <a:ext cx="261518" cy="261518"/>
          </a:xfrm>
          <a:prstGeom prst="rect">
            <a:avLst/>
          </a:prstGeom>
        </p:spPr>
      </p:pic>
      <p:sp>
        <p:nvSpPr>
          <p:cNvPr id="13" name="Text 9"/>
          <p:cNvSpPr txBox="1"/>
          <p:nvPr/>
        </p:nvSpPr>
        <p:spPr>
          <a:xfrm>
            <a:off x="1417320" y="2276856"/>
            <a:ext cx="3291840" cy="7132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Application / Business Layer</a:t>
            </a:r>
            <a:endParaRPr lang="en-US" sz="1350" dirty="0"/>
          </a:p>
        </p:txBody>
      </p:sp>
      <p:sp>
        <p:nvSpPr>
          <p:cNvPr id="14" name="Text 10"/>
          <p:cNvSpPr txBox="1"/>
          <p:nvPr/>
        </p:nvSpPr>
        <p:spPr>
          <a:xfrm>
            <a:off x="4846320" y="2276856"/>
            <a:ext cx="6583680" cy="713232"/>
          </a:xfrm>
          <a:prstGeom prst="rect">
            <a:avLst/>
          </a:prstGeom>
          <a:noFill/>
          <a:ln/>
        </p:spPr>
        <p:txBody>
          <a:bodyPr wrap="square" lIns="0" tIns="0" rIns="0" bIns="0" rtlCol="0" anchor="ctr"/>
          <a:lstStyle/>
          <a:p>
            <a:pPr indent="0" marL="0">
              <a:buNone/>
            </a:pPr>
            <a:r>
              <a:rPr lang="en-US" sz="1200" dirty="0">
                <a:solidFill>
                  <a:srgbClr val="CBD3F0"/>
                </a:solidFill>
                <a:latin typeface="Calibri" pitchFamily="34" charset="0"/>
                <a:ea typeface="Calibri" pitchFamily="34" charset="-122"/>
                <a:cs typeface="Calibri" pitchFamily="34" charset="-120"/>
              </a:rPr>
              <a:t>Server-side logic via Servlets, JSP and the Spring Framework.</a:t>
            </a:r>
            <a:endParaRPr lang="en-US" sz="1200" dirty="0"/>
          </a:p>
        </p:txBody>
      </p:sp>
      <p:sp>
        <p:nvSpPr>
          <p:cNvPr id="15" name="Text 11"/>
          <p:cNvSpPr txBox="1"/>
          <p:nvPr/>
        </p:nvSpPr>
        <p:spPr>
          <a:xfrm>
            <a:off x="868680" y="2971800"/>
            <a:ext cx="274320" cy="146304"/>
          </a:xfrm>
          <a:prstGeom prst="rect">
            <a:avLst/>
          </a:prstGeom>
          <a:noFill/>
          <a:ln/>
        </p:spPr>
        <p:txBody>
          <a:bodyPr wrap="square" lIns="0" tIns="0" rIns="0" bIns="0" rtlCol="0" anchor="ctr"/>
          <a:lstStyle/>
          <a:p>
            <a:pPr algn="ctr" indent="0" marL="0">
              <a:buNone/>
            </a:pPr>
            <a:r>
              <a:rPr lang="en-US" sz="900" dirty="0">
                <a:solidFill>
                  <a:srgbClr val="D4A24E"/>
                </a:solidFill>
              </a:rPr>
              <a:t>↓</a:t>
            </a:r>
            <a:endParaRPr lang="en-US" sz="900" dirty="0"/>
          </a:p>
        </p:txBody>
      </p:sp>
      <p:sp>
        <p:nvSpPr>
          <p:cNvPr id="16" name="Shape 12"/>
          <p:cNvSpPr/>
          <p:nvPr/>
        </p:nvSpPr>
        <p:spPr>
          <a:xfrm>
            <a:off x="548640" y="3044952"/>
            <a:ext cx="11064240" cy="713232"/>
          </a:xfrm>
          <a:prstGeom prst="roundRect">
            <a:avLst>
              <a:gd name="adj" fmla="val 6410"/>
            </a:avLst>
          </a:prstGeom>
          <a:solidFill>
            <a:srgbClr val="242E6E"/>
          </a:solidFill>
          <a:ln/>
        </p:spPr>
      </p:sp>
      <p:sp>
        <p:nvSpPr>
          <p:cNvPr id="17" name="Shape 13"/>
          <p:cNvSpPr/>
          <p:nvPr/>
        </p:nvSpPr>
        <p:spPr>
          <a:xfrm>
            <a:off x="749808" y="3163824"/>
            <a:ext cx="475488" cy="475488"/>
          </a:xfrm>
          <a:prstGeom prst="ellipse">
            <a:avLst/>
          </a:prstGeom>
          <a:solidFill>
            <a:srgbClr val="1E2761"/>
          </a:solidFill>
          <a:ln/>
        </p:spPr>
      </p:sp>
      <p:pic>
        <p:nvPicPr>
          <p:cNvPr id="18" name="Image 2" descr="/home/claude/icons/bolt_white.png">    </p:cNvPr>
          <p:cNvPicPr>
            <a:picLocks noChangeAspect="1"/>
          </p:cNvPicPr>
          <p:nvPr/>
        </p:nvPicPr>
        <p:blipFill>
          <a:blip r:embed="rId3"/>
          <a:stretch>
            <a:fillRect/>
          </a:stretch>
        </p:blipFill>
        <p:spPr>
          <a:xfrm>
            <a:off x="856793" y="3270809"/>
            <a:ext cx="261518" cy="261518"/>
          </a:xfrm>
          <a:prstGeom prst="rect">
            <a:avLst/>
          </a:prstGeom>
        </p:spPr>
      </p:pic>
      <p:sp>
        <p:nvSpPr>
          <p:cNvPr id="19" name="Text 14"/>
          <p:cNvSpPr txBox="1"/>
          <p:nvPr/>
        </p:nvSpPr>
        <p:spPr>
          <a:xfrm>
            <a:off x="1417320" y="3044952"/>
            <a:ext cx="3291840" cy="7132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API Layer</a:t>
            </a:r>
            <a:endParaRPr lang="en-US" sz="1350" dirty="0"/>
          </a:p>
        </p:txBody>
      </p:sp>
      <p:sp>
        <p:nvSpPr>
          <p:cNvPr id="20" name="Text 15"/>
          <p:cNvSpPr txBox="1"/>
          <p:nvPr/>
        </p:nvSpPr>
        <p:spPr>
          <a:xfrm>
            <a:off x="4846320" y="3044952"/>
            <a:ext cx="6583680" cy="713232"/>
          </a:xfrm>
          <a:prstGeom prst="rect">
            <a:avLst/>
          </a:prstGeom>
          <a:noFill/>
          <a:ln/>
        </p:spPr>
        <p:txBody>
          <a:bodyPr wrap="square" lIns="0" tIns="0" rIns="0" bIns="0" rtlCol="0" anchor="ctr"/>
          <a:lstStyle/>
          <a:p>
            <a:pPr indent="0" marL="0">
              <a:buNone/>
            </a:pPr>
            <a:r>
              <a:rPr lang="en-US" sz="1200" dirty="0">
                <a:solidFill>
                  <a:srgbClr val="CBD3F0"/>
                </a:solidFill>
                <a:latin typeface="Calibri" pitchFamily="34" charset="0"/>
                <a:ea typeface="Calibri" pitchFamily="34" charset="-122"/>
                <a:cs typeface="Calibri" pitchFamily="34" charset="-120"/>
              </a:rPr>
              <a:t>RESTful web services built using Spring Boot.</a:t>
            </a:r>
            <a:endParaRPr lang="en-US" sz="1200" dirty="0"/>
          </a:p>
        </p:txBody>
      </p:sp>
      <p:sp>
        <p:nvSpPr>
          <p:cNvPr id="21" name="Text 16"/>
          <p:cNvSpPr txBox="1"/>
          <p:nvPr/>
        </p:nvSpPr>
        <p:spPr>
          <a:xfrm>
            <a:off x="868680" y="3739896"/>
            <a:ext cx="274320" cy="146304"/>
          </a:xfrm>
          <a:prstGeom prst="rect">
            <a:avLst/>
          </a:prstGeom>
          <a:noFill/>
          <a:ln/>
        </p:spPr>
        <p:txBody>
          <a:bodyPr wrap="square" lIns="0" tIns="0" rIns="0" bIns="0" rtlCol="0" anchor="ctr"/>
          <a:lstStyle/>
          <a:p>
            <a:pPr algn="ctr" indent="0" marL="0">
              <a:buNone/>
            </a:pPr>
            <a:r>
              <a:rPr lang="en-US" sz="900" dirty="0">
                <a:solidFill>
                  <a:srgbClr val="D4A24E"/>
                </a:solidFill>
              </a:rPr>
              <a:t>↓</a:t>
            </a:r>
            <a:endParaRPr lang="en-US" sz="900" dirty="0"/>
          </a:p>
        </p:txBody>
      </p:sp>
      <p:sp>
        <p:nvSpPr>
          <p:cNvPr id="22" name="Shape 17"/>
          <p:cNvSpPr/>
          <p:nvPr/>
        </p:nvSpPr>
        <p:spPr>
          <a:xfrm>
            <a:off x="548640" y="3813048"/>
            <a:ext cx="11064240" cy="713232"/>
          </a:xfrm>
          <a:prstGeom prst="roundRect">
            <a:avLst>
              <a:gd name="adj" fmla="val 6410"/>
            </a:avLst>
          </a:prstGeom>
          <a:solidFill>
            <a:srgbClr val="242E6E"/>
          </a:solidFill>
          <a:ln/>
        </p:spPr>
      </p:sp>
      <p:sp>
        <p:nvSpPr>
          <p:cNvPr id="23" name="Shape 18"/>
          <p:cNvSpPr/>
          <p:nvPr/>
        </p:nvSpPr>
        <p:spPr>
          <a:xfrm>
            <a:off x="749808" y="3931920"/>
            <a:ext cx="475488" cy="475488"/>
          </a:xfrm>
          <a:prstGeom prst="ellipse">
            <a:avLst/>
          </a:prstGeom>
          <a:solidFill>
            <a:srgbClr val="1E2761"/>
          </a:solidFill>
          <a:ln/>
        </p:spPr>
      </p:sp>
      <p:pic>
        <p:nvPicPr>
          <p:cNvPr id="24" name="Image 3" descr="/home/claude/icons/database_white.png">    </p:cNvPr>
          <p:cNvPicPr>
            <a:picLocks noChangeAspect="1"/>
          </p:cNvPicPr>
          <p:nvPr/>
        </p:nvPicPr>
        <p:blipFill>
          <a:blip r:embed="rId4"/>
          <a:stretch>
            <a:fillRect/>
          </a:stretch>
        </p:blipFill>
        <p:spPr>
          <a:xfrm>
            <a:off x="856793" y="4038905"/>
            <a:ext cx="261518" cy="261518"/>
          </a:xfrm>
          <a:prstGeom prst="rect">
            <a:avLst/>
          </a:prstGeom>
        </p:spPr>
      </p:pic>
      <p:sp>
        <p:nvSpPr>
          <p:cNvPr id="25" name="Text 19"/>
          <p:cNvSpPr txBox="1"/>
          <p:nvPr/>
        </p:nvSpPr>
        <p:spPr>
          <a:xfrm>
            <a:off x="1417320" y="3813048"/>
            <a:ext cx="3291840" cy="7132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 Access Layer</a:t>
            </a:r>
            <a:endParaRPr lang="en-US" sz="1350" dirty="0"/>
          </a:p>
        </p:txBody>
      </p:sp>
      <p:sp>
        <p:nvSpPr>
          <p:cNvPr id="26" name="Text 20"/>
          <p:cNvSpPr txBox="1"/>
          <p:nvPr/>
        </p:nvSpPr>
        <p:spPr>
          <a:xfrm>
            <a:off x="4846320" y="3813048"/>
            <a:ext cx="6583680" cy="713232"/>
          </a:xfrm>
          <a:prstGeom prst="rect">
            <a:avLst/>
          </a:prstGeom>
          <a:noFill/>
          <a:ln/>
        </p:spPr>
        <p:txBody>
          <a:bodyPr wrap="square" lIns="0" tIns="0" rIns="0" bIns="0" rtlCol="0" anchor="ctr"/>
          <a:lstStyle/>
          <a:p>
            <a:pPr indent="0" marL="0">
              <a:buNone/>
            </a:pPr>
            <a:r>
              <a:rPr lang="en-US" sz="1200" dirty="0">
                <a:solidFill>
                  <a:srgbClr val="CBD3F0"/>
                </a:solidFill>
                <a:latin typeface="Calibri" pitchFamily="34" charset="0"/>
                <a:ea typeface="Calibri" pitchFamily="34" charset="-122"/>
                <a:cs typeface="Calibri" pitchFamily="34" charset="-120"/>
              </a:rPr>
              <a:t>CRUD operations via JDBC against MySQL.</a:t>
            </a:r>
            <a:endParaRPr lang="en-US" sz="1200" dirty="0"/>
          </a:p>
        </p:txBody>
      </p:sp>
      <p:sp>
        <p:nvSpPr>
          <p:cNvPr id="27" name="Text 21"/>
          <p:cNvSpPr txBox="1"/>
          <p:nvPr/>
        </p:nvSpPr>
        <p:spPr>
          <a:xfrm>
            <a:off x="868680" y="4507992"/>
            <a:ext cx="274320" cy="146304"/>
          </a:xfrm>
          <a:prstGeom prst="rect">
            <a:avLst/>
          </a:prstGeom>
          <a:noFill/>
          <a:ln/>
        </p:spPr>
        <p:txBody>
          <a:bodyPr wrap="square" lIns="0" tIns="0" rIns="0" bIns="0" rtlCol="0" anchor="ctr"/>
          <a:lstStyle/>
          <a:p>
            <a:pPr algn="ctr" indent="0" marL="0">
              <a:buNone/>
            </a:pPr>
            <a:r>
              <a:rPr lang="en-US" sz="900" dirty="0">
                <a:solidFill>
                  <a:srgbClr val="D4A24E"/>
                </a:solidFill>
              </a:rPr>
              <a:t>↓</a:t>
            </a:r>
            <a:endParaRPr lang="en-US" sz="900" dirty="0"/>
          </a:p>
        </p:txBody>
      </p:sp>
      <p:sp>
        <p:nvSpPr>
          <p:cNvPr id="28" name="Shape 22"/>
          <p:cNvSpPr/>
          <p:nvPr/>
        </p:nvSpPr>
        <p:spPr>
          <a:xfrm>
            <a:off x="548640" y="4581144"/>
            <a:ext cx="11064240" cy="713232"/>
          </a:xfrm>
          <a:prstGeom prst="roundRect">
            <a:avLst>
              <a:gd name="adj" fmla="val 6410"/>
            </a:avLst>
          </a:prstGeom>
          <a:solidFill>
            <a:srgbClr val="242E6E"/>
          </a:solidFill>
          <a:ln/>
        </p:spPr>
      </p:sp>
      <p:sp>
        <p:nvSpPr>
          <p:cNvPr id="29" name="Shape 23"/>
          <p:cNvSpPr/>
          <p:nvPr/>
        </p:nvSpPr>
        <p:spPr>
          <a:xfrm>
            <a:off x="749808" y="4700016"/>
            <a:ext cx="475488" cy="475488"/>
          </a:xfrm>
          <a:prstGeom prst="ellipse">
            <a:avLst/>
          </a:prstGeom>
          <a:solidFill>
            <a:srgbClr val="1E2761"/>
          </a:solidFill>
          <a:ln/>
        </p:spPr>
      </p:sp>
      <p:pic>
        <p:nvPicPr>
          <p:cNvPr id="30" name="Image 4" descr="/home/claude/icons/layers_white.png">    </p:cNvPr>
          <p:cNvPicPr>
            <a:picLocks noChangeAspect="1"/>
          </p:cNvPicPr>
          <p:nvPr/>
        </p:nvPicPr>
        <p:blipFill>
          <a:blip r:embed="rId5"/>
          <a:stretch>
            <a:fillRect/>
          </a:stretch>
        </p:blipFill>
        <p:spPr>
          <a:xfrm>
            <a:off x="856793" y="4807001"/>
            <a:ext cx="261518" cy="261518"/>
          </a:xfrm>
          <a:prstGeom prst="rect">
            <a:avLst/>
          </a:prstGeom>
        </p:spPr>
      </p:pic>
      <p:sp>
        <p:nvSpPr>
          <p:cNvPr id="31" name="Text 24"/>
          <p:cNvSpPr txBox="1"/>
          <p:nvPr/>
        </p:nvSpPr>
        <p:spPr>
          <a:xfrm>
            <a:off x="1417320" y="4581144"/>
            <a:ext cx="3291840" cy="7132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Database Layer</a:t>
            </a:r>
            <a:endParaRPr lang="en-US" sz="1350" dirty="0"/>
          </a:p>
        </p:txBody>
      </p:sp>
      <p:sp>
        <p:nvSpPr>
          <p:cNvPr id="32" name="Text 25"/>
          <p:cNvSpPr txBox="1"/>
          <p:nvPr/>
        </p:nvSpPr>
        <p:spPr>
          <a:xfrm>
            <a:off x="4846320" y="4581144"/>
            <a:ext cx="6583680" cy="713232"/>
          </a:xfrm>
          <a:prstGeom prst="rect">
            <a:avLst/>
          </a:prstGeom>
          <a:noFill/>
          <a:ln/>
        </p:spPr>
        <p:txBody>
          <a:bodyPr wrap="square" lIns="0" tIns="0" rIns="0" bIns="0" rtlCol="0" anchor="ctr"/>
          <a:lstStyle/>
          <a:p>
            <a:pPr indent="0" marL="0">
              <a:buNone/>
            </a:pPr>
            <a:r>
              <a:rPr lang="en-US" sz="1200" dirty="0">
                <a:solidFill>
                  <a:srgbClr val="CBD3F0"/>
                </a:solidFill>
                <a:latin typeface="Calibri" pitchFamily="34" charset="0"/>
                <a:ea typeface="Calibri" pitchFamily="34" charset="-122"/>
                <a:cs typeface="Calibri" pitchFamily="34" charset="-120"/>
              </a:rPr>
              <a:t>MySQL relational database storing application data.</a:t>
            </a:r>
            <a:endParaRPr lang="en-US" sz="1200" dirty="0"/>
          </a:p>
        </p:txBody>
      </p:sp>
      <p:sp>
        <p:nvSpPr>
          <p:cNvPr id="33" name="Text 26"/>
          <p:cNvSpPr txBox="1"/>
          <p:nvPr/>
        </p:nvSpPr>
        <p:spPr>
          <a:xfrm>
            <a:off x="868680" y="5276088"/>
            <a:ext cx="274320" cy="146304"/>
          </a:xfrm>
          <a:prstGeom prst="rect">
            <a:avLst/>
          </a:prstGeom>
          <a:noFill/>
          <a:ln/>
        </p:spPr>
        <p:txBody>
          <a:bodyPr wrap="square" lIns="0" tIns="0" rIns="0" bIns="0" rtlCol="0" anchor="ctr"/>
          <a:lstStyle/>
          <a:p>
            <a:pPr algn="ctr" indent="0" marL="0">
              <a:buNone/>
            </a:pPr>
            <a:r>
              <a:rPr lang="en-US" sz="900" dirty="0">
                <a:solidFill>
                  <a:srgbClr val="D4A24E"/>
                </a:solidFill>
              </a:rPr>
              <a:t>↓</a:t>
            </a:r>
            <a:endParaRPr lang="en-US" sz="900" dirty="0"/>
          </a:p>
        </p:txBody>
      </p:sp>
      <p:sp>
        <p:nvSpPr>
          <p:cNvPr id="34" name="Shape 27"/>
          <p:cNvSpPr/>
          <p:nvPr/>
        </p:nvSpPr>
        <p:spPr>
          <a:xfrm>
            <a:off x="548640" y="5349240"/>
            <a:ext cx="11064240" cy="713232"/>
          </a:xfrm>
          <a:prstGeom prst="roundRect">
            <a:avLst>
              <a:gd name="adj" fmla="val 6410"/>
            </a:avLst>
          </a:prstGeom>
          <a:solidFill>
            <a:srgbClr val="242E6E"/>
          </a:solidFill>
          <a:ln/>
        </p:spPr>
      </p:sp>
      <p:sp>
        <p:nvSpPr>
          <p:cNvPr id="35" name="Shape 28"/>
          <p:cNvSpPr/>
          <p:nvPr/>
        </p:nvSpPr>
        <p:spPr>
          <a:xfrm>
            <a:off x="749808" y="5468112"/>
            <a:ext cx="475488" cy="475488"/>
          </a:xfrm>
          <a:prstGeom prst="ellipse">
            <a:avLst/>
          </a:prstGeom>
          <a:solidFill>
            <a:srgbClr val="1E2761"/>
          </a:solidFill>
          <a:ln/>
        </p:spPr>
      </p:sp>
      <p:pic>
        <p:nvPicPr>
          <p:cNvPr id="36" name="Image 5" descr="/home/claude/icons/check_white.png">    </p:cNvPr>
          <p:cNvPicPr>
            <a:picLocks noChangeAspect="1"/>
          </p:cNvPicPr>
          <p:nvPr/>
        </p:nvPicPr>
        <p:blipFill>
          <a:blip r:embed="rId6"/>
          <a:stretch>
            <a:fillRect/>
          </a:stretch>
        </p:blipFill>
        <p:spPr>
          <a:xfrm>
            <a:off x="856793" y="5575097"/>
            <a:ext cx="261518" cy="261518"/>
          </a:xfrm>
          <a:prstGeom prst="rect">
            <a:avLst/>
          </a:prstGeom>
        </p:spPr>
      </p:pic>
      <p:sp>
        <p:nvSpPr>
          <p:cNvPr id="37" name="Text 29"/>
          <p:cNvSpPr txBox="1"/>
          <p:nvPr/>
        </p:nvSpPr>
        <p:spPr>
          <a:xfrm>
            <a:off x="1417320" y="5349240"/>
            <a:ext cx="3291840" cy="713232"/>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Assessment Layer</a:t>
            </a:r>
            <a:endParaRPr lang="en-US" sz="1350" dirty="0"/>
          </a:p>
        </p:txBody>
      </p:sp>
      <p:sp>
        <p:nvSpPr>
          <p:cNvPr id="38" name="Text 30"/>
          <p:cNvSpPr txBox="1"/>
          <p:nvPr/>
        </p:nvSpPr>
        <p:spPr>
          <a:xfrm>
            <a:off x="4846320" y="5349240"/>
            <a:ext cx="6583680" cy="713232"/>
          </a:xfrm>
          <a:prstGeom prst="rect">
            <a:avLst/>
          </a:prstGeom>
          <a:noFill/>
          <a:ln/>
        </p:spPr>
        <p:txBody>
          <a:bodyPr wrap="square" lIns="0" tIns="0" rIns="0" bIns="0" rtlCol="0" anchor="ctr"/>
          <a:lstStyle/>
          <a:p>
            <a:pPr indent="0" marL="0">
              <a:buNone/>
            </a:pPr>
            <a:r>
              <a:rPr lang="en-US" sz="1200" dirty="0">
                <a:solidFill>
                  <a:srgbClr val="CBD3F0"/>
                </a:solidFill>
                <a:latin typeface="Calibri" pitchFamily="34" charset="0"/>
                <a:ea typeface="Calibri" pitchFamily="34" charset="-122"/>
                <a:cs typeface="Calibri" pitchFamily="34" charset="-120"/>
              </a:rPr>
              <a:t>Weekly quizzes, assignments &amp; Final Grade Point Assessment.</a:t>
            </a:r>
            <a:endParaRPr lang="en-US" sz="1200" dirty="0"/>
          </a:p>
        </p:txBody>
      </p:sp>
      <p:sp>
        <p:nvSpPr>
          <p:cNvPr id="39" name="Text 31"/>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AEB6DE"/>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40" name="Text 32"/>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AEB6D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1F8"/>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B2340"/>
                </a:solidFill>
                <a:latin typeface="Bookman Old Style" pitchFamily="34" charset="0"/>
                <a:ea typeface="Bookman Old Style" pitchFamily="34" charset="-122"/>
                <a:cs typeface="Bookman Old Style" pitchFamily="34" charset="-120"/>
              </a:rPr>
              <a:t>The 8-Week Learning Journey</a:t>
            </a:r>
            <a:endParaRPr lang="en-US" sz="3000" dirty="0"/>
          </a:p>
        </p:txBody>
      </p:sp>
      <p:sp>
        <p:nvSpPr>
          <p:cNvPr id="4" name="Shape 2"/>
          <p:cNvSpPr/>
          <p:nvPr/>
        </p:nvSpPr>
        <p:spPr>
          <a:xfrm>
            <a:off x="548640"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5" name="Shape 3"/>
          <p:cNvSpPr/>
          <p:nvPr/>
        </p:nvSpPr>
        <p:spPr>
          <a:xfrm>
            <a:off x="731520" y="1783080"/>
            <a:ext cx="502920" cy="502920"/>
          </a:xfrm>
          <a:prstGeom prst="ellipse">
            <a:avLst/>
          </a:prstGeom>
          <a:solidFill>
            <a:srgbClr val="1E2761"/>
          </a:solidFill>
          <a:ln/>
        </p:spPr>
      </p:sp>
      <p:sp>
        <p:nvSpPr>
          <p:cNvPr id="6" name="Text 4"/>
          <p:cNvSpPr txBox="1"/>
          <p:nvPr/>
        </p:nvSpPr>
        <p:spPr>
          <a:xfrm>
            <a:off x="731520"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325880" y="185623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8" name="Text 6"/>
          <p:cNvSpPr txBox="1"/>
          <p:nvPr/>
        </p:nvSpPr>
        <p:spPr>
          <a:xfrm>
            <a:off x="731520" y="246888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Core Java &amp; OOP</a:t>
            </a:r>
            <a:endParaRPr lang="en-US" sz="1250" dirty="0"/>
          </a:p>
        </p:txBody>
      </p:sp>
      <p:sp>
        <p:nvSpPr>
          <p:cNvPr id="9" name="Text 7"/>
          <p:cNvSpPr txBox="1"/>
          <p:nvPr/>
        </p:nvSpPr>
        <p:spPr>
          <a:xfrm>
            <a:off x="731520" y="297180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Classes, objects, inheritance, polymorphism, exception handling.</a:t>
            </a:r>
            <a:endParaRPr lang="en-US" sz="1000" dirty="0"/>
          </a:p>
        </p:txBody>
      </p:sp>
      <p:sp>
        <p:nvSpPr>
          <p:cNvPr id="10" name="Shape 8"/>
          <p:cNvSpPr/>
          <p:nvPr/>
        </p:nvSpPr>
        <p:spPr>
          <a:xfrm>
            <a:off x="3355848"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11" name="Shape 9"/>
          <p:cNvSpPr/>
          <p:nvPr/>
        </p:nvSpPr>
        <p:spPr>
          <a:xfrm>
            <a:off x="3538728" y="1783080"/>
            <a:ext cx="502920" cy="502920"/>
          </a:xfrm>
          <a:prstGeom prst="ellipse">
            <a:avLst/>
          </a:prstGeom>
          <a:solidFill>
            <a:srgbClr val="1E2761"/>
          </a:solidFill>
          <a:ln/>
        </p:spPr>
      </p:sp>
      <p:sp>
        <p:nvSpPr>
          <p:cNvPr id="12" name="Text 10"/>
          <p:cNvSpPr txBox="1"/>
          <p:nvPr/>
        </p:nvSpPr>
        <p:spPr>
          <a:xfrm>
            <a:off x="3538728"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133088" y="185623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14" name="Text 12"/>
          <p:cNvSpPr txBox="1"/>
          <p:nvPr/>
        </p:nvSpPr>
        <p:spPr>
          <a:xfrm>
            <a:off x="3538728" y="246888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Front-End Web Basics</a:t>
            </a:r>
            <a:endParaRPr lang="en-US" sz="1250" dirty="0"/>
          </a:p>
        </p:txBody>
      </p:sp>
      <p:sp>
        <p:nvSpPr>
          <p:cNvPr id="15" name="Text 13"/>
          <p:cNvSpPr txBox="1"/>
          <p:nvPr/>
        </p:nvSpPr>
        <p:spPr>
          <a:xfrm>
            <a:off x="3538728" y="297180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Page structure &amp; styling using HTML5, CSS3, JavaScript.</a:t>
            </a:r>
            <a:endParaRPr lang="en-US" sz="1000" dirty="0"/>
          </a:p>
        </p:txBody>
      </p:sp>
      <p:sp>
        <p:nvSpPr>
          <p:cNvPr id="16" name="Shape 14"/>
          <p:cNvSpPr/>
          <p:nvPr/>
        </p:nvSpPr>
        <p:spPr>
          <a:xfrm>
            <a:off x="6163056"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17" name="Shape 15"/>
          <p:cNvSpPr/>
          <p:nvPr/>
        </p:nvSpPr>
        <p:spPr>
          <a:xfrm>
            <a:off x="6345936" y="1783080"/>
            <a:ext cx="502920" cy="502920"/>
          </a:xfrm>
          <a:prstGeom prst="ellipse">
            <a:avLst/>
          </a:prstGeom>
          <a:solidFill>
            <a:srgbClr val="1E2761"/>
          </a:solidFill>
          <a:ln/>
        </p:spPr>
      </p:sp>
      <p:sp>
        <p:nvSpPr>
          <p:cNvPr id="18" name="Text 16"/>
          <p:cNvSpPr txBox="1"/>
          <p:nvPr/>
        </p:nvSpPr>
        <p:spPr>
          <a:xfrm>
            <a:off x="6345936"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6940296" y="185623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20" name="Text 18"/>
          <p:cNvSpPr txBox="1"/>
          <p:nvPr/>
        </p:nvSpPr>
        <p:spPr>
          <a:xfrm>
            <a:off x="6345936" y="246888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Advanced Java &amp; JDBC</a:t>
            </a:r>
            <a:endParaRPr lang="en-US" sz="1250" dirty="0"/>
          </a:p>
        </p:txBody>
      </p:sp>
      <p:sp>
        <p:nvSpPr>
          <p:cNvPr id="21" name="Text 19"/>
          <p:cNvSpPr txBox="1"/>
          <p:nvPr/>
        </p:nvSpPr>
        <p:spPr>
          <a:xfrm>
            <a:off x="6345936" y="297180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Collections, multithreading basics, DB connectivity via JDBC.</a:t>
            </a:r>
            <a:endParaRPr lang="en-US" sz="1000" dirty="0"/>
          </a:p>
        </p:txBody>
      </p:sp>
      <p:sp>
        <p:nvSpPr>
          <p:cNvPr id="22" name="Shape 20"/>
          <p:cNvSpPr/>
          <p:nvPr/>
        </p:nvSpPr>
        <p:spPr>
          <a:xfrm>
            <a:off x="8970264" y="160020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23" name="Shape 21"/>
          <p:cNvSpPr/>
          <p:nvPr/>
        </p:nvSpPr>
        <p:spPr>
          <a:xfrm>
            <a:off x="9153144" y="1783080"/>
            <a:ext cx="502920" cy="502920"/>
          </a:xfrm>
          <a:prstGeom prst="ellipse">
            <a:avLst/>
          </a:prstGeom>
          <a:solidFill>
            <a:srgbClr val="1E2761"/>
          </a:solidFill>
          <a:ln/>
        </p:spPr>
      </p:sp>
      <p:sp>
        <p:nvSpPr>
          <p:cNvPr id="24" name="Text 22"/>
          <p:cNvSpPr txBox="1"/>
          <p:nvPr/>
        </p:nvSpPr>
        <p:spPr>
          <a:xfrm>
            <a:off x="9153144"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5" name="Text 23"/>
          <p:cNvSpPr txBox="1"/>
          <p:nvPr/>
        </p:nvSpPr>
        <p:spPr>
          <a:xfrm>
            <a:off x="9747504" y="185623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26" name="Text 24"/>
          <p:cNvSpPr txBox="1"/>
          <p:nvPr/>
        </p:nvSpPr>
        <p:spPr>
          <a:xfrm>
            <a:off x="9153144" y="246888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Servlets &amp; JSP</a:t>
            </a:r>
            <a:endParaRPr lang="en-US" sz="1250" dirty="0"/>
          </a:p>
        </p:txBody>
      </p:sp>
      <p:sp>
        <p:nvSpPr>
          <p:cNvPr id="27" name="Text 25"/>
          <p:cNvSpPr txBox="1"/>
          <p:nvPr/>
        </p:nvSpPr>
        <p:spPr>
          <a:xfrm>
            <a:off x="9153144" y="297180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Dynamic server-side pages and the MVC design pattern.</a:t>
            </a:r>
            <a:endParaRPr lang="en-US" sz="1000" dirty="0"/>
          </a:p>
        </p:txBody>
      </p:sp>
      <p:sp>
        <p:nvSpPr>
          <p:cNvPr id="28" name="Shape 26"/>
          <p:cNvSpPr/>
          <p:nvPr/>
        </p:nvSpPr>
        <p:spPr>
          <a:xfrm>
            <a:off x="548640"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29" name="Shape 27"/>
          <p:cNvSpPr/>
          <p:nvPr/>
        </p:nvSpPr>
        <p:spPr>
          <a:xfrm>
            <a:off x="731520" y="4160520"/>
            <a:ext cx="502920" cy="502920"/>
          </a:xfrm>
          <a:prstGeom prst="ellipse">
            <a:avLst/>
          </a:prstGeom>
          <a:solidFill>
            <a:srgbClr val="1E2761"/>
          </a:solidFill>
          <a:ln/>
        </p:spPr>
      </p:sp>
      <p:sp>
        <p:nvSpPr>
          <p:cNvPr id="30" name="Text 28"/>
          <p:cNvSpPr txBox="1"/>
          <p:nvPr/>
        </p:nvSpPr>
        <p:spPr>
          <a:xfrm>
            <a:off x="731520"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1" name="Text 29"/>
          <p:cNvSpPr txBox="1"/>
          <p:nvPr/>
        </p:nvSpPr>
        <p:spPr>
          <a:xfrm>
            <a:off x="1325880" y="423367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32" name="Text 30"/>
          <p:cNvSpPr txBox="1"/>
          <p:nvPr/>
        </p:nvSpPr>
        <p:spPr>
          <a:xfrm>
            <a:off x="731520" y="484632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Spring Framework</a:t>
            </a:r>
            <a:endParaRPr lang="en-US" sz="1250" dirty="0"/>
          </a:p>
        </p:txBody>
      </p:sp>
      <p:sp>
        <p:nvSpPr>
          <p:cNvPr id="33" name="Text 31"/>
          <p:cNvSpPr txBox="1"/>
          <p:nvPr/>
        </p:nvSpPr>
        <p:spPr>
          <a:xfrm>
            <a:off x="731520" y="534924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Dependency Injection and Inversion of Control.</a:t>
            </a:r>
            <a:endParaRPr lang="en-US" sz="1000" dirty="0"/>
          </a:p>
        </p:txBody>
      </p:sp>
      <p:sp>
        <p:nvSpPr>
          <p:cNvPr id="34" name="Shape 32"/>
          <p:cNvSpPr/>
          <p:nvPr/>
        </p:nvSpPr>
        <p:spPr>
          <a:xfrm>
            <a:off x="3355848"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35" name="Shape 33"/>
          <p:cNvSpPr/>
          <p:nvPr/>
        </p:nvSpPr>
        <p:spPr>
          <a:xfrm>
            <a:off x="3538728" y="4160520"/>
            <a:ext cx="502920" cy="502920"/>
          </a:xfrm>
          <a:prstGeom prst="ellipse">
            <a:avLst/>
          </a:prstGeom>
          <a:solidFill>
            <a:srgbClr val="1E2761"/>
          </a:solidFill>
          <a:ln/>
        </p:spPr>
      </p:sp>
      <p:sp>
        <p:nvSpPr>
          <p:cNvPr id="36" name="Text 34"/>
          <p:cNvSpPr txBox="1"/>
          <p:nvPr/>
        </p:nvSpPr>
        <p:spPr>
          <a:xfrm>
            <a:off x="3538728"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7" name="Text 35"/>
          <p:cNvSpPr txBox="1"/>
          <p:nvPr/>
        </p:nvSpPr>
        <p:spPr>
          <a:xfrm>
            <a:off x="4133088" y="423367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38" name="Text 36"/>
          <p:cNvSpPr txBox="1"/>
          <p:nvPr/>
        </p:nvSpPr>
        <p:spPr>
          <a:xfrm>
            <a:off x="3538728" y="484632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Spring Boot &amp; REST APIs</a:t>
            </a:r>
            <a:endParaRPr lang="en-US" sz="1250" dirty="0"/>
          </a:p>
        </p:txBody>
      </p:sp>
      <p:sp>
        <p:nvSpPr>
          <p:cNvPr id="39" name="Text 37"/>
          <p:cNvSpPr txBox="1"/>
          <p:nvPr/>
        </p:nvSpPr>
        <p:spPr>
          <a:xfrm>
            <a:off x="3538728" y="534924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Developing and testing RESTful web services.</a:t>
            </a:r>
            <a:endParaRPr lang="en-US" sz="1000" dirty="0"/>
          </a:p>
        </p:txBody>
      </p:sp>
      <p:sp>
        <p:nvSpPr>
          <p:cNvPr id="40" name="Shape 38"/>
          <p:cNvSpPr/>
          <p:nvPr/>
        </p:nvSpPr>
        <p:spPr>
          <a:xfrm>
            <a:off x="6163056"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41" name="Shape 39"/>
          <p:cNvSpPr/>
          <p:nvPr/>
        </p:nvSpPr>
        <p:spPr>
          <a:xfrm>
            <a:off x="6345936" y="4160520"/>
            <a:ext cx="502920" cy="502920"/>
          </a:xfrm>
          <a:prstGeom prst="ellipse">
            <a:avLst/>
          </a:prstGeom>
          <a:solidFill>
            <a:srgbClr val="1E2761"/>
          </a:solidFill>
          <a:ln/>
        </p:spPr>
      </p:sp>
      <p:sp>
        <p:nvSpPr>
          <p:cNvPr id="42" name="Text 40"/>
          <p:cNvSpPr txBox="1"/>
          <p:nvPr/>
        </p:nvSpPr>
        <p:spPr>
          <a:xfrm>
            <a:off x="6345936"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3" name="Text 41"/>
          <p:cNvSpPr txBox="1"/>
          <p:nvPr/>
        </p:nvSpPr>
        <p:spPr>
          <a:xfrm>
            <a:off x="6940296" y="423367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44" name="Text 42"/>
          <p:cNvSpPr txBox="1"/>
          <p:nvPr/>
        </p:nvSpPr>
        <p:spPr>
          <a:xfrm>
            <a:off x="6345936" y="484632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Database Design</a:t>
            </a:r>
            <a:endParaRPr lang="en-US" sz="1250" dirty="0"/>
          </a:p>
        </p:txBody>
      </p:sp>
      <p:sp>
        <p:nvSpPr>
          <p:cNvPr id="45" name="Text 43"/>
          <p:cNvSpPr txBox="1"/>
          <p:nvPr/>
        </p:nvSpPr>
        <p:spPr>
          <a:xfrm>
            <a:off x="6345936" y="534924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MySQL schemas and CRUD operations for the app.</a:t>
            </a:r>
            <a:endParaRPr lang="en-US" sz="1000" dirty="0"/>
          </a:p>
        </p:txBody>
      </p:sp>
      <p:sp>
        <p:nvSpPr>
          <p:cNvPr id="46" name="Shape 44"/>
          <p:cNvSpPr/>
          <p:nvPr/>
        </p:nvSpPr>
        <p:spPr>
          <a:xfrm>
            <a:off x="8970264" y="3977640"/>
            <a:ext cx="2606040" cy="2148840"/>
          </a:xfrm>
          <a:prstGeom prst="roundRect">
            <a:avLst>
              <a:gd name="adj" fmla="val 2979"/>
            </a:avLst>
          </a:prstGeom>
          <a:solidFill>
            <a:srgbClr val="FFFFFF"/>
          </a:solidFill>
          <a:ln/>
          <a:effectLst>
            <a:outerShdw sx="100000" sy="100000" kx="0" ky="0" algn="bl" rotWithShape="0" blurRad="76200" dist="25400" dir="5400000">
              <a:srgbClr val="1E2761">
                <a:alpha val="10000"/>
              </a:srgbClr>
            </a:outerShdw>
          </a:effectLst>
        </p:spPr>
      </p:sp>
      <p:sp>
        <p:nvSpPr>
          <p:cNvPr id="47" name="Shape 45"/>
          <p:cNvSpPr/>
          <p:nvPr/>
        </p:nvSpPr>
        <p:spPr>
          <a:xfrm>
            <a:off x="9153144" y="4160520"/>
            <a:ext cx="502920" cy="502920"/>
          </a:xfrm>
          <a:prstGeom prst="ellipse">
            <a:avLst/>
          </a:prstGeom>
          <a:solidFill>
            <a:srgbClr val="1E2761"/>
          </a:solidFill>
          <a:ln/>
        </p:spPr>
      </p:sp>
      <p:sp>
        <p:nvSpPr>
          <p:cNvPr id="48" name="Text 46"/>
          <p:cNvSpPr txBox="1"/>
          <p:nvPr/>
        </p:nvSpPr>
        <p:spPr>
          <a:xfrm>
            <a:off x="9153144" y="41605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9" name="Text 47"/>
          <p:cNvSpPr txBox="1"/>
          <p:nvPr/>
        </p:nvSpPr>
        <p:spPr>
          <a:xfrm>
            <a:off x="9747504" y="4233672"/>
            <a:ext cx="1554480" cy="274320"/>
          </a:xfrm>
          <a:prstGeom prst="rect">
            <a:avLst/>
          </a:prstGeom>
          <a:noFill/>
          <a:ln/>
        </p:spPr>
        <p:txBody>
          <a:bodyPr wrap="square" lIns="0" tIns="0" rIns="0" bIns="0" rtlCol="0" anchor="ctr"/>
          <a:lstStyle/>
          <a:p>
            <a:pPr indent="0" marL="0">
              <a:buNone/>
            </a:pPr>
            <a:r>
              <a:rPr lang="en-US" sz="1000" b="1" spc="100" kern="0" dirty="0">
                <a:solidFill>
                  <a:srgbClr val="D4A24E"/>
                </a:solidFill>
                <a:latin typeface="Calibri" pitchFamily="34" charset="0"/>
                <a:ea typeface="Calibri" pitchFamily="34" charset="-122"/>
                <a:cs typeface="Calibri" pitchFamily="34" charset="-120"/>
              </a:rPr>
              <a:t>WEEK</a:t>
            </a:r>
            <a:endParaRPr lang="en-US" sz="1000" dirty="0"/>
          </a:p>
        </p:txBody>
      </p:sp>
      <p:sp>
        <p:nvSpPr>
          <p:cNvPr id="50" name="Text 48"/>
          <p:cNvSpPr txBox="1"/>
          <p:nvPr/>
        </p:nvSpPr>
        <p:spPr>
          <a:xfrm>
            <a:off x="9153144" y="4846320"/>
            <a:ext cx="2240280" cy="502920"/>
          </a:xfrm>
          <a:prstGeom prst="rect">
            <a:avLst/>
          </a:prstGeom>
          <a:noFill/>
          <a:ln/>
        </p:spPr>
        <p:txBody>
          <a:bodyPr wrap="square" lIns="0" tIns="0" rIns="0" bIns="0" rtlCol="0" anchor="ctr"/>
          <a:lstStyle/>
          <a:p>
            <a:pPr indent="0" marL="0">
              <a:buNone/>
            </a:pPr>
            <a:r>
              <a:rPr lang="en-US" sz="1250" b="1" dirty="0">
                <a:solidFill>
                  <a:srgbClr val="1B2340"/>
                </a:solidFill>
                <a:latin typeface="Calibri" pitchFamily="34" charset="0"/>
                <a:ea typeface="Calibri" pitchFamily="34" charset="-122"/>
                <a:cs typeface="Calibri" pitchFamily="34" charset="-120"/>
              </a:rPr>
              <a:t>Full Stack Integration</a:t>
            </a:r>
            <a:endParaRPr lang="en-US" sz="1250" dirty="0"/>
          </a:p>
        </p:txBody>
      </p:sp>
      <p:sp>
        <p:nvSpPr>
          <p:cNvPr id="51" name="Text 49"/>
          <p:cNvSpPr txBox="1"/>
          <p:nvPr/>
        </p:nvSpPr>
        <p:spPr>
          <a:xfrm>
            <a:off x="9153144" y="5349240"/>
            <a:ext cx="2240280" cy="68580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Calibri" pitchFamily="34" charset="0"/>
                <a:ea typeface="Calibri" pitchFamily="34" charset="-122"/>
                <a:cs typeface="Calibri" pitchFamily="34" charset="-120"/>
              </a:rPr>
              <a:t>Integrating front-end, back-end &amp; database layers.</a:t>
            </a:r>
            <a:endParaRPr lang="en-US" sz="1000" dirty="0"/>
          </a:p>
        </p:txBody>
      </p:sp>
      <p:sp>
        <p:nvSpPr>
          <p:cNvPr id="52" name="Text 50"/>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53" name="Text 51"/>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EXPECTED OUTCOMES</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1B2340"/>
                </a:solidFill>
                <a:latin typeface="Bookman Old Style" pitchFamily="34" charset="0"/>
                <a:ea typeface="Bookman Old Style" pitchFamily="34" charset="-122"/>
                <a:cs typeface="Bookman Old Style" pitchFamily="34" charset="-120"/>
              </a:rPr>
              <a:t>Skills &amp; Capabilities Gained</a:t>
            </a:r>
            <a:endParaRPr lang="en-US" sz="3000" dirty="0"/>
          </a:p>
        </p:txBody>
      </p:sp>
      <p:sp>
        <p:nvSpPr>
          <p:cNvPr id="4" name="Shape 2"/>
          <p:cNvSpPr/>
          <p:nvPr/>
        </p:nvSpPr>
        <p:spPr>
          <a:xfrm>
            <a:off x="548640" y="1691640"/>
            <a:ext cx="384048" cy="384048"/>
          </a:xfrm>
          <a:prstGeom prst="ellipse">
            <a:avLst/>
          </a:prstGeom>
          <a:solidFill>
            <a:srgbClr val="D7DEF5"/>
          </a:solidFill>
          <a:ln/>
        </p:spPr>
      </p:sp>
      <p:pic>
        <p:nvPicPr>
          <p:cNvPr id="5" name="Image 0" descr="/home/claude/icons/check_navy.png">    </p:cNvPr>
          <p:cNvPicPr>
            <a:picLocks noChangeAspect="1"/>
          </p:cNvPicPr>
          <p:nvPr/>
        </p:nvPicPr>
        <p:blipFill>
          <a:blip r:embed="rId1"/>
          <a:stretch>
            <a:fillRect/>
          </a:stretch>
        </p:blipFill>
        <p:spPr>
          <a:xfrm>
            <a:off x="621609" y="1764609"/>
            <a:ext cx="238110" cy="238110"/>
          </a:xfrm>
          <a:prstGeom prst="rect">
            <a:avLst/>
          </a:prstGeom>
        </p:spPr>
      </p:pic>
      <p:sp>
        <p:nvSpPr>
          <p:cNvPr id="6" name="Text 3"/>
          <p:cNvSpPr txBox="1"/>
          <p:nvPr/>
        </p:nvSpPr>
        <p:spPr>
          <a:xfrm>
            <a:off x="1143000" y="1636776"/>
            <a:ext cx="10424160" cy="502920"/>
          </a:xfrm>
          <a:prstGeom prst="rect">
            <a:avLst/>
          </a:prstGeom>
          <a:noFill/>
          <a:ln/>
        </p:spPr>
        <p:txBody>
          <a:bodyPr wrap="square" lIns="0" tIns="0" rIns="0" bIns="0" rtlCol="0" anchor="ctr"/>
          <a:lstStyle/>
          <a:p>
            <a:pPr indent="0" marL="0">
              <a:buNone/>
            </a:pPr>
            <a:r>
              <a:rPr lang="en-US" sz="1400" dirty="0">
                <a:solidFill>
                  <a:srgbClr val="1B2340"/>
                </a:solidFill>
                <a:latin typeface="Calibri" pitchFamily="34" charset="0"/>
                <a:ea typeface="Calibri" pitchFamily="34" charset="-122"/>
                <a:cs typeface="Calibri" pitchFamily="34" charset="-120"/>
              </a:rPr>
              <a:t>Ability to apply core Java and object-oriented programming concepts to real development tasks.</a:t>
            </a:r>
            <a:endParaRPr lang="en-US" sz="1400" dirty="0"/>
          </a:p>
        </p:txBody>
      </p:sp>
      <p:sp>
        <p:nvSpPr>
          <p:cNvPr id="7" name="Shape 4"/>
          <p:cNvSpPr/>
          <p:nvPr/>
        </p:nvSpPr>
        <p:spPr>
          <a:xfrm>
            <a:off x="548640" y="2313432"/>
            <a:ext cx="384048" cy="384048"/>
          </a:xfrm>
          <a:prstGeom prst="ellipse">
            <a:avLst/>
          </a:prstGeom>
          <a:solidFill>
            <a:srgbClr val="D7DEF5"/>
          </a:solidFill>
          <a:ln/>
        </p:spPr>
      </p:sp>
      <p:pic>
        <p:nvPicPr>
          <p:cNvPr id="8" name="Image 1" descr="/home/claude/icons/check_navy.png">    </p:cNvPr>
          <p:cNvPicPr>
            <a:picLocks noChangeAspect="1"/>
          </p:cNvPicPr>
          <p:nvPr/>
        </p:nvPicPr>
        <p:blipFill>
          <a:blip r:embed="rId2"/>
          <a:stretch>
            <a:fillRect/>
          </a:stretch>
        </p:blipFill>
        <p:spPr>
          <a:xfrm>
            <a:off x="621609" y="2386401"/>
            <a:ext cx="238110" cy="238110"/>
          </a:xfrm>
          <a:prstGeom prst="rect">
            <a:avLst/>
          </a:prstGeom>
        </p:spPr>
      </p:pic>
      <p:sp>
        <p:nvSpPr>
          <p:cNvPr id="9" name="Text 5"/>
          <p:cNvSpPr txBox="1"/>
          <p:nvPr/>
        </p:nvSpPr>
        <p:spPr>
          <a:xfrm>
            <a:off x="1143000" y="2258568"/>
            <a:ext cx="10424160" cy="502920"/>
          </a:xfrm>
          <a:prstGeom prst="rect">
            <a:avLst/>
          </a:prstGeom>
          <a:noFill/>
          <a:ln/>
        </p:spPr>
        <p:txBody>
          <a:bodyPr wrap="square" lIns="0" tIns="0" rIns="0" bIns="0" rtlCol="0" anchor="ctr"/>
          <a:lstStyle/>
          <a:p>
            <a:pPr indent="0" marL="0">
              <a:buNone/>
            </a:pPr>
            <a:r>
              <a:rPr lang="en-US" sz="1400" dirty="0">
                <a:solidFill>
                  <a:srgbClr val="1B2340"/>
                </a:solidFill>
                <a:latin typeface="Calibri" pitchFamily="34" charset="0"/>
                <a:ea typeface="Calibri" pitchFamily="34" charset="-122"/>
                <a:cs typeface="Calibri" pitchFamily="34" charset="-120"/>
              </a:rPr>
              <a:t>Practical understanding of front-end web development using HTML, CSS and JavaScript.</a:t>
            </a:r>
            <a:endParaRPr lang="en-US" sz="1400" dirty="0"/>
          </a:p>
        </p:txBody>
      </p:sp>
      <p:sp>
        <p:nvSpPr>
          <p:cNvPr id="10" name="Shape 6"/>
          <p:cNvSpPr/>
          <p:nvPr/>
        </p:nvSpPr>
        <p:spPr>
          <a:xfrm>
            <a:off x="548640" y="2935224"/>
            <a:ext cx="384048" cy="384048"/>
          </a:xfrm>
          <a:prstGeom prst="ellipse">
            <a:avLst/>
          </a:prstGeom>
          <a:solidFill>
            <a:srgbClr val="D7DEF5"/>
          </a:solidFill>
          <a:ln/>
        </p:spPr>
      </p:sp>
      <p:pic>
        <p:nvPicPr>
          <p:cNvPr id="11" name="Image 2" descr="/home/claude/icons/check_navy.png">    </p:cNvPr>
          <p:cNvPicPr>
            <a:picLocks noChangeAspect="1"/>
          </p:cNvPicPr>
          <p:nvPr/>
        </p:nvPicPr>
        <p:blipFill>
          <a:blip r:embed="rId3"/>
          <a:stretch>
            <a:fillRect/>
          </a:stretch>
        </p:blipFill>
        <p:spPr>
          <a:xfrm>
            <a:off x="621609" y="3008193"/>
            <a:ext cx="238110" cy="238110"/>
          </a:xfrm>
          <a:prstGeom prst="rect">
            <a:avLst/>
          </a:prstGeom>
        </p:spPr>
      </p:pic>
      <p:sp>
        <p:nvSpPr>
          <p:cNvPr id="12" name="Text 7"/>
          <p:cNvSpPr txBox="1"/>
          <p:nvPr/>
        </p:nvSpPr>
        <p:spPr>
          <a:xfrm>
            <a:off x="1143000" y="2880360"/>
            <a:ext cx="10424160" cy="502920"/>
          </a:xfrm>
          <a:prstGeom prst="rect">
            <a:avLst/>
          </a:prstGeom>
          <a:noFill/>
          <a:ln/>
        </p:spPr>
        <p:txBody>
          <a:bodyPr wrap="square" lIns="0" tIns="0" rIns="0" bIns="0" rtlCol="0" anchor="ctr"/>
          <a:lstStyle/>
          <a:p>
            <a:pPr indent="0" marL="0">
              <a:buNone/>
            </a:pPr>
            <a:r>
              <a:rPr lang="en-US" sz="1400" dirty="0">
                <a:solidFill>
                  <a:srgbClr val="1B2340"/>
                </a:solidFill>
                <a:latin typeface="Calibri" pitchFamily="34" charset="0"/>
                <a:ea typeface="Calibri" pitchFamily="34" charset="-122"/>
                <a:cs typeface="Calibri" pitchFamily="34" charset="-120"/>
              </a:rPr>
              <a:t>Hands-on exposure to server-side programming using Servlets, JSP and the Spring Framework.</a:t>
            </a:r>
            <a:endParaRPr lang="en-US" sz="1400" dirty="0"/>
          </a:p>
        </p:txBody>
      </p:sp>
      <p:sp>
        <p:nvSpPr>
          <p:cNvPr id="13" name="Shape 8"/>
          <p:cNvSpPr/>
          <p:nvPr/>
        </p:nvSpPr>
        <p:spPr>
          <a:xfrm>
            <a:off x="548640" y="3557016"/>
            <a:ext cx="384048" cy="384048"/>
          </a:xfrm>
          <a:prstGeom prst="ellipse">
            <a:avLst/>
          </a:prstGeom>
          <a:solidFill>
            <a:srgbClr val="D7DEF5"/>
          </a:solidFill>
          <a:ln/>
        </p:spPr>
      </p:sp>
      <p:pic>
        <p:nvPicPr>
          <p:cNvPr id="14" name="Image 3" descr="/home/claude/icons/check_navy.png">    </p:cNvPr>
          <p:cNvPicPr>
            <a:picLocks noChangeAspect="1"/>
          </p:cNvPicPr>
          <p:nvPr/>
        </p:nvPicPr>
        <p:blipFill>
          <a:blip r:embed="rId4"/>
          <a:stretch>
            <a:fillRect/>
          </a:stretch>
        </p:blipFill>
        <p:spPr>
          <a:xfrm>
            <a:off x="621609" y="3629985"/>
            <a:ext cx="238110" cy="238110"/>
          </a:xfrm>
          <a:prstGeom prst="rect">
            <a:avLst/>
          </a:prstGeom>
        </p:spPr>
      </p:pic>
      <p:sp>
        <p:nvSpPr>
          <p:cNvPr id="15" name="Text 9"/>
          <p:cNvSpPr txBox="1"/>
          <p:nvPr/>
        </p:nvSpPr>
        <p:spPr>
          <a:xfrm>
            <a:off x="1143000" y="3502152"/>
            <a:ext cx="10424160" cy="502920"/>
          </a:xfrm>
          <a:prstGeom prst="rect">
            <a:avLst/>
          </a:prstGeom>
          <a:noFill/>
          <a:ln/>
        </p:spPr>
        <p:txBody>
          <a:bodyPr wrap="square" lIns="0" tIns="0" rIns="0" bIns="0" rtlCol="0" anchor="ctr"/>
          <a:lstStyle/>
          <a:p>
            <a:pPr indent="0" marL="0">
              <a:buNone/>
            </a:pPr>
            <a:r>
              <a:rPr lang="en-US" sz="1400" dirty="0">
                <a:solidFill>
                  <a:srgbClr val="1B2340"/>
                </a:solidFill>
                <a:latin typeface="Calibri" pitchFamily="34" charset="0"/>
                <a:ea typeface="Calibri" pitchFamily="34" charset="-122"/>
                <a:cs typeface="Calibri" pitchFamily="34" charset="-120"/>
              </a:rPr>
              <a:t>Capability to design and develop RESTful APIs using Spring Boot.</a:t>
            </a:r>
            <a:endParaRPr lang="en-US" sz="1400" dirty="0"/>
          </a:p>
        </p:txBody>
      </p:sp>
      <p:sp>
        <p:nvSpPr>
          <p:cNvPr id="16" name="Shape 10"/>
          <p:cNvSpPr/>
          <p:nvPr/>
        </p:nvSpPr>
        <p:spPr>
          <a:xfrm>
            <a:off x="548640" y="4178808"/>
            <a:ext cx="384048" cy="384048"/>
          </a:xfrm>
          <a:prstGeom prst="ellipse">
            <a:avLst/>
          </a:prstGeom>
          <a:solidFill>
            <a:srgbClr val="D7DEF5"/>
          </a:solidFill>
          <a:ln/>
        </p:spPr>
      </p:sp>
      <p:pic>
        <p:nvPicPr>
          <p:cNvPr id="17" name="Image 4" descr="/home/claude/icons/check_navy.png">    </p:cNvPr>
          <p:cNvPicPr>
            <a:picLocks noChangeAspect="1"/>
          </p:cNvPicPr>
          <p:nvPr/>
        </p:nvPicPr>
        <p:blipFill>
          <a:blip r:embed="rId5"/>
          <a:stretch>
            <a:fillRect/>
          </a:stretch>
        </p:blipFill>
        <p:spPr>
          <a:xfrm>
            <a:off x="621609" y="4251777"/>
            <a:ext cx="238110" cy="238110"/>
          </a:xfrm>
          <a:prstGeom prst="rect">
            <a:avLst/>
          </a:prstGeom>
        </p:spPr>
      </p:pic>
      <p:sp>
        <p:nvSpPr>
          <p:cNvPr id="18" name="Text 11"/>
          <p:cNvSpPr txBox="1"/>
          <p:nvPr/>
        </p:nvSpPr>
        <p:spPr>
          <a:xfrm>
            <a:off x="1143000" y="4123944"/>
            <a:ext cx="10424160" cy="502920"/>
          </a:xfrm>
          <a:prstGeom prst="rect">
            <a:avLst/>
          </a:prstGeom>
          <a:noFill/>
          <a:ln/>
        </p:spPr>
        <p:txBody>
          <a:bodyPr wrap="square" lIns="0" tIns="0" rIns="0" bIns="0" rtlCol="0" anchor="ctr"/>
          <a:lstStyle/>
          <a:p>
            <a:pPr indent="0" marL="0">
              <a:buNone/>
            </a:pPr>
            <a:r>
              <a:rPr lang="en-US" sz="1400" dirty="0">
                <a:solidFill>
                  <a:srgbClr val="1B2340"/>
                </a:solidFill>
                <a:latin typeface="Calibri" pitchFamily="34" charset="0"/>
                <a:ea typeface="Calibri" pitchFamily="34" charset="-122"/>
                <a:cs typeface="Calibri" pitchFamily="34" charset="-120"/>
              </a:rPr>
              <a:t>Skill to design MySQL database schemas and connect them to a Java application using JDBC.</a:t>
            </a:r>
            <a:endParaRPr lang="en-US" sz="1400" dirty="0"/>
          </a:p>
        </p:txBody>
      </p:sp>
      <p:sp>
        <p:nvSpPr>
          <p:cNvPr id="19" name="Shape 12"/>
          <p:cNvSpPr/>
          <p:nvPr/>
        </p:nvSpPr>
        <p:spPr>
          <a:xfrm>
            <a:off x="548640" y="4800600"/>
            <a:ext cx="384048" cy="384048"/>
          </a:xfrm>
          <a:prstGeom prst="ellipse">
            <a:avLst/>
          </a:prstGeom>
          <a:solidFill>
            <a:srgbClr val="D7DEF5"/>
          </a:solidFill>
          <a:ln/>
        </p:spPr>
      </p:sp>
      <p:pic>
        <p:nvPicPr>
          <p:cNvPr id="20" name="Image 5" descr="/home/claude/icons/check_navy.png">    </p:cNvPr>
          <p:cNvPicPr>
            <a:picLocks noChangeAspect="1"/>
          </p:cNvPicPr>
          <p:nvPr/>
        </p:nvPicPr>
        <p:blipFill>
          <a:blip r:embed="rId6"/>
          <a:stretch>
            <a:fillRect/>
          </a:stretch>
        </p:blipFill>
        <p:spPr>
          <a:xfrm>
            <a:off x="621609" y="4873569"/>
            <a:ext cx="238110" cy="238110"/>
          </a:xfrm>
          <a:prstGeom prst="rect">
            <a:avLst/>
          </a:prstGeom>
        </p:spPr>
      </p:pic>
      <p:sp>
        <p:nvSpPr>
          <p:cNvPr id="21" name="Text 13"/>
          <p:cNvSpPr txBox="1"/>
          <p:nvPr/>
        </p:nvSpPr>
        <p:spPr>
          <a:xfrm>
            <a:off x="1143000" y="4745736"/>
            <a:ext cx="10424160" cy="502920"/>
          </a:xfrm>
          <a:prstGeom prst="rect">
            <a:avLst/>
          </a:prstGeom>
          <a:noFill/>
          <a:ln/>
        </p:spPr>
        <p:txBody>
          <a:bodyPr wrap="square" lIns="0" tIns="0" rIns="0" bIns="0" rtlCol="0" anchor="ctr"/>
          <a:lstStyle/>
          <a:p>
            <a:pPr indent="0" marL="0">
              <a:buNone/>
            </a:pPr>
            <a:r>
              <a:rPr lang="en-US" sz="1400" dirty="0">
                <a:solidFill>
                  <a:srgbClr val="1B2340"/>
                </a:solidFill>
                <a:latin typeface="Calibri" pitchFamily="34" charset="0"/>
                <a:ea typeface="Calibri" pitchFamily="34" charset="-122"/>
                <a:cs typeface="Calibri" pitchFamily="34" charset="-120"/>
              </a:rPr>
              <a:t>Ability to integrate front-end, back-end and database layers into a complete full stack web application.</a:t>
            </a:r>
            <a:endParaRPr lang="en-US" sz="1400" dirty="0"/>
          </a:p>
        </p:txBody>
      </p:sp>
      <p:sp>
        <p:nvSpPr>
          <p:cNvPr id="22" name="Shape 14"/>
          <p:cNvSpPr/>
          <p:nvPr/>
        </p:nvSpPr>
        <p:spPr>
          <a:xfrm>
            <a:off x="548640" y="5422392"/>
            <a:ext cx="384048" cy="384048"/>
          </a:xfrm>
          <a:prstGeom prst="ellipse">
            <a:avLst/>
          </a:prstGeom>
          <a:solidFill>
            <a:srgbClr val="D7DEF5"/>
          </a:solidFill>
          <a:ln/>
        </p:spPr>
      </p:sp>
      <p:pic>
        <p:nvPicPr>
          <p:cNvPr id="23" name="Image 6" descr="/home/claude/icons/check_navy.png">    </p:cNvPr>
          <p:cNvPicPr>
            <a:picLocks noChangeAspect="1"/>
          </p:cNvPicPr>
          <p:nvPr/>
        </p:nvPicPr>
        <p:blipFill>
          <a:blip r:embed="rId7"/>
          <a:stretch>
            <a:fillRect/>
          </a:stretch>
        </p:blipFill>
        <p:spPr>
          <a:xfrm>
            <a:off x="621609" y="5495361"/>
            <a:ext cx="238110" cy="238110"/>
          </a:xfrm>
          <a:prstGeom prst="rect">
            <a:avLst/>
          </a:prstGeom>
        </p:spPr>
      </p:pic>
      <p:sp>
        <p:nvSpPr>
          <p:cNvPr id="24" name="Text 15"/>
          <p:cNvSpPr txBox="1"/>
          <p:nvPr/>
        </p:nvSpPr>
        <p:spPr>
          <a:xfrm>
            <a:off x="1143000" y="5367528"/>
            <a:ext cx="10424160" cy="502920"/>
          </a:xfrm>
          <a:prstGeom prst="rect">
            <a:avLst/>
          </a:prstGeom>
          <a:noFill/>
          <a:ln/>
        </p:spPr>
        <p:txBody>
          <a:bodyPr wrap="square" lIns="0" tIns="0" rIns="0" bIns="0" rtlCol="0" anchor="ctr"/>
          <a:lstStyle/>
          <a:p>
            <a:pPr indent="0" marL="0">
              <a:buNone/>
            </a:pPr>
            <a:r>
              <a:rPr lang="en-US" sz="1400" dirty="0">
                <a:solidFill>
                  <a:srgbClr val="1B2340"/>
                </a:solidFill>
                <a:latin typeface="Calibri" pitchFamily="34" charset="0"/>
                <a:ea typeface="Calibri" pitchFamily="34" charset="-122"/>
                <a:cs typeface="Calibri" pitchFamily="34" charset="-120"/>
              </a:rPr>
              <a:t>Successful completion of the Final Assessment / Internship Grade Point Assessment with an "Excellent" grade.</a:t>
            </a:r>
            <a:endParaRPr lang="en-US" sz="1400" dirty="0"/>
          </a:p>
        </p:txBody>
      </p:sp>
      <p:sp>
        <p:nvSpPr>
          <p:cNvPr id="25" name="Text 16"/>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26" name="Text 17"/>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320040"/>
          </a:xfrm>
          <a:prstGeom prst="rect">
            <a:avLst/>
          </a:prstGeom>
          <a:noFill/>
          <a:ln/>
        </p:spPr>
        <p:txBody>
          <a:bodyPr wrap="square" lIns="0" tIns="0" rIns="0" bIns="0" rtlCol="0" anchor="ctr"/>
          <a:lstStyle/>
          <a:p>
            <a:pPr indent="0" marL="0">
              <a:buNone/>
            </a:pPr>
            <a:r>
              <a:rPr lang="en-US" sz="1200" b="1" spc="200" kern="0" dirty="0">
                <a:solidFill>
                  <a:srgbClr val="D4A24E"/>
                </a:solidFill>
                <a:latin typeface="Calibri" pitchFamily="34" charset="0"/>
                <a:ea typeface="Calibri" pitchFamily="34" charset="-122"/>
                <a:cs typeface="Calibri" pitchFamily="34" charset="-120"/>
              </a:rPr>
              <a:t>CERTIFICATION</a:t>
            </a:r>
            <a:endParaRPr lang="en-US" sz="1200" dirty="0"/>
          </a:p>
        </p:txBody>
      </p:sp>
      <p:sp>
        <p:nvSpPr>
          <p:cNvPr id="3" name="Text 1"/>
          <p:cNvSpPr txBox="1"/>
          <p:nvPr/>
        </p:nvSpPr>
        <p:spPr>
          <a:xfrm>
            <a:off x="548640" y="713232"/>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Successfully Completed</a:t>
            </a:r>
            <a:endParaRPr lang="en-US" sz="3000" dirty="0"/>
          </a:p>
        </p:txBody>
      </p:sp>
      <p:sp>
        <p:nvSpPr>
          <p:cNvPr id="4" name="Shape 2"/>
          <p:cNvSpPr/>
          <p:nvPr/>
        </p:nvSpPr>
        <p:spPr>
          <a:xfrm>
            <a:off x="548640" y="1737360"/>
            <a:ext cx="530352" cy="530352"/>
          </a:xfrm>
          <a:prstGeom prst="ellipse">
            <a:avLst/>
          </a:prstGeom>
          <a:solidFill>
            <a:srgbClr val="242E6E"/>
          </a:solidFill>
          <a:ln/>
        </p:spPr>
      </p:sp>
      <p:pic>
        <p:nvPicPr>
          <p:cNvPr id="5" name="Image 0" descr="/home/claude/icons/certificate_white.png">    </p:cNvPr>
          <p:cNvPicPr>
            <a:picLocks noChangeAspect="1"/>
          </p:cNvPicPr>
          <p:nvPr/>
        </p:nvPicPr>
        <p:blipFill>
          <a:blip r:embed="rId1"/>
          <a:stretch>
            <a:fillRect/>
          </a:stretch>
        </p:blipFill>
        <p:spPr>
          <a:xfrm>
            <a:off x="681228" y="1869948"/>
            <a:ext cx="265176" cy="265176"/>
          </a:xfrm>
          <a:prstGeom prst="rect">
            <a:avLst/>
          </a:prstGeom>
        </p:spPr>
      </p:pic>
      <p:sp>
        <p:nvSpPr>
          <p:cNvPr id="6" name="Text 3"/>
          <p:cNvSpPr txBox="1"/>
          <p:nvPr/>
        </p:nvSpPr>
        <p:spPr>
          <a:xfrm>
            <a:off x="1280160" y="1719072"/>
            <a:ext cx="4023360" cy="274320"/>
          </a:xfrm>
          <a:prstGeom prst="rect">
            <a:avLst/>
          </a:prstGeom>
          <a:noFill/>
          <a:ln/>
        </p:spPr>
        <p:txBody>
          <a:bodyPr wrap="square" lIns="0" tIns="0" rIns="0" bIns="0" rtlCol="0" anchor="ctr"/>
          <a:lstStyle/>
          <a:p>
            <a:pPr indent="0" marL="0">
              <a:buNone/>
            </a:pPr>
            <a:r>
              <a:rPr lang="en-US" sz="1200" b="1" dirty="0">
                <a:solidFill>
                  <a:srgbClr val="AEB6DE"/>
                </a:solidFill>
                <a:latin typeface="Calibri" pitchFamily="34" charset="0"/>
                <a:ea typeface="Calibri" pitchFamily="34" charset="-122"/>
                <a:cs typeface="Calibri" pitchFamily="34" charset="-120"/>
              </a:rPr>
              <a:t>Grade</a:t>
            </a:r>
            <a:endParaRPr lang="en-US" sz="1200" dirty="0"/>
          </a:p>
        </p:txBody>
      </p:sp>
      <p:sp>
        <p:nvSpPr>
          <p:cNvPr id="7" name="Text 4"/>
          <p:cNvSpPr txBox="1"/>
          <p:nvPr/>
        </p:nvSpPr>
        <p:spPr>
          <a:xfrm>
            <a:off x="1280160" y="1965960"/>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 – Excellent</a:t>
            </a:r>
            <a:endParaRPr lang="en-US" sz="1500" dirty="0"/>
          </a:p>
        </p:txBody>
      </p:sp>
      <p:sp>
        <p:nvSpPr>
          <p:cNvPr id="8" name="Shape 5"/>
          <p:cNvSpPr/>
          <p:nvPr/>
        </p:nvSpPr>
        <p:spPr>
          <a:xfrm>
            <a:off x="548640" y="2514600"/>
            <a:ext cx="530352" cy="530352"/>
          </a:xfrm>
          <a:prstGeom prst="ellipse">
            <a:avLst/>
          </a:prstGeom>
          <a:solidFill>
            <a:srgbClr val="242E6E"/>
          </a:solidFill>
          <a:ln/>
        </p:spPr>
      </p:sp>
      <p:pic>
        <p:nvPicPr>
          <p:cNvPr id="9" name="Image 1" descr="/home/claude/icons/idcard_white.png">    </p:cNvPr>
          <p:cNvPicPr>
            <a:picLocks noChangeAspect="1"/>
          </p:cNvPicPr>
          <p:nvPr/>
        </p:nvPicPr>
        <p:blipFill>
          <a:blip r:embed="rId2"/>
          <a:stretch>
            <a:fillRect/>
          </a:stretch>
        </p:blipFill>
        <p:spPr>
          <a:xfrm>
            <a:off x="681228" y="2647188"/>
            <a:ext cx="265176" cy="265176"/>
          </a:xfrm>
          <a:prstGeom prst="rect">
            <a:avLst/>
          </a:prstGeom>
        </p:spPr>
      </p:pic>
      <p:sp>
        <p:nvSpPr>
          <p:cNvPr id="10" name="Text 6"/>
          <p:cNvSpPr txBox="1"/>
          <p:nvPr/>
        </p:nvSpPr>
        <p:spPr>
          <a:xfrm>
            <a:off x="1280160" y="2496312"/>
            <a:ext cx="4023360" cy="274320"/>
          </a:xfrm>
          <a:prstGeom prst="rect">
            <a:avLst/>
          </a:prstGeom>
          <a:noFill/>
          <a:ln/>
        </p:spPr>
        <p:txBody>
          <a:bodyPr wrap="square" lIns="0" tIns="0" rIns="0" bIns="0" rtlCol="0" anchor="ctr"/>
          <a:lstStyle/>
          <a:p>
            <a:pPr indent="0" marL="0">
              <a:buNone/>
            </a:pPr>
            <a:r>
              <a:rPr lang="en-US" sz="1200" b="1" dirty="0">
                <a:solidFill>
                  <a:srgbClr val="AEB6DE"/>
                </a:solidFill>
                <a:latin typeface="Calibri" pitchFamily="34" charset="0"/>
                <a:ea typeface="Calibri" pitchFamily="34" charset="-122"/>
                <a:cs typeface="Calibri" pitchFamily="34" charset="-120"/>
              </a:rPr>
              <a:t>Certificate ID</a:t>
            </a:r>
            <a:endParaRPr lang="en-US" sz="1200" dirty="0"/>
          </a:p>
        </p:txBody>
      </p:sp>
      <p:sp>
        <p:nvSpPr>
          <p:cNvPr id="11" name="Text 7"/>
          <p:cNvSpPr txBox="1"/>
          <p:nvPr/>
        </p:nvSpPr>
        <p:spPr>
          <a:xfrm>
            <a:off x="1280160" y="2743200"/>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4811b5db1e31b0e84d89</a:t>
            </a:r>
            <a:endParaRPr lang="en-US" sz="1500" dirty="0"/>
          </a:p>
        </p:txBody>
      </p:sp>
      <p:sp>
        <p:nvSpPr>
          <p:cNvPr id="12" name="Shape 8"/>
          <p:cNvSpPr/>
          <p:nvPr/>
        </p:nvSpPr>
        <p:spPr>
          <a:xfrm>
            <a:off x="548640" y="3291840"/>
            <a:ext cx="530352" cy="530352"/>
          </a:xfrm>
          <a:prstGeom prst="ellipse">
            <a:avLst/>
          </a:prstGeom>
          <a:solidFill>
            <a:srgbClr val="242E6E"/>
          </a:solidFill>
          <a:ln/>
        </p:spPr>
      </p:sp>
      <p:pic>
        <p:nvPicPr>
          <p:cNvPr id="13" name="Image 2" descr="/home/claude/icons/university_white.png">    </p:cNvPr>
          <p:cNvPicPr>
            <a:picLocks noChangeAspect="1"/>
          </p:cNvPicPr>
          <p:nvPr/>
        </p:nvPicPr>
        <p:blipFill>
          <a:blip r:embed="rId3"/>
          <a:stretch>
            <a:fillRect/>
          </a:stretch>
        </p:blipFill>
        <p:spPr>
          <a:xfrm>
            <a:off x="681228" y="3424428"/>
            <a:ext cx="265176" cy="265176"/>
          </a:xfrm>
          <a:prstGeom prst="rect">
            <a:avLst/>
          </a:prstGeom>
        </p:spPr>
      </p:pic>
      <p:sp>
        <p:nvSpPr>
          <p:cNvPr id="14" name="Text 9"/>
          <p:cNvSpPr txBox="1"/>
          <p:nvPr/>
        </p:nvSpPr>
        <p:spPr>
          <a:xfrm>
            <a:off x="1280160" y="3273552"/>
            <a:ext cx="4023360" cy="274320"/>
          </a:xfrm>
          <a:prstGeom prst="rect">
            <a:avLst/>
          </a:prstGeom>
          <a:noFill/>
          <a:ln/>
        </p:spPr>
        <p:txBody>
          <a:bodyPr wrap="square" lIns="0" tIns="0" rIns="0" bIns="0" rtlCol="0" anchor="ctr"/>
          <a:lstStyle/>
          <a:p>
            <a:pPr indent="0" marL="0">
              <a:buNone/>
            </a:pPr>
            <a:r>
              <a:rPr lang="en-US" sz="1200" b="1" dirty="0">
                <a:solidFill>
                  <a:srgbClr val="AEB6DE"/>
                </a:solidFill>
                <a:latin typeface="Calibri" pitchFamily="34" charset="0"/>
                <a:ea typeface="Calibri" pitchFamily="34" charset="-122"/>
                <a:cs typeface="Calibri" pitchFamily="34" charset="-120"/>
              </a:rPr>
              <a:t>Student ID</a:t>
            </a:r>
            <a:endParaRPr lang="en-US" sz="1200" dirty="0"/>
          </a:p>
        </p:txBody>
      </p:sp>
      <p:sp>
        <p:nvSpPr>
          <p:cNvPr id="15" name="Text 10"/>
          <p:cNvSpPr txBox="1"/>
          <p:nvPr/>
        </p:nvSpPr>
        <p:spPr>
          <a:xfrm>
            <a:off x="1280160" y="3520440"/>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STU69984794de59b1771587476</a:t>
            </a:r>
            <a:endParaRPr lang="en-US" sz="1500" dirty="0"/>
          </a:p>
        </p:txBody>
      </p:sp>
      <p:sp>
        <p:nvSpPr>
          <p:cNvPr id="16" name="Shape 11"/>
          <p:cNvSpPr/>
          <p:nvPr/>
        </p:nvSpPr>
        <p:spPr>
          <a:xfrm>
            <a:off x="548640" y="4069080"/>
            <a:ext cx="530352" cy="530352"/>
          </a:xfrm>
          <a:prstGeom prst="ellipse">
            <a:avLst/>
          </a:prstGeom>
          <a:solidFill>
            <a:srgbClr val="242E6E"/>
          </a:solidFill>
          <a:ln/>
        </p:spPr>
      </p:sp>
      <p:pic>
        <p:nvPicPr>
          <p:cNvPr id="17" name="Image 3" descr="/home/claude/icons/calendar_white.png">    </p:cNvPr>
          <p:cNvPicPr>
            <a:picLocks noChangeAspect="1"/>
          </p:cNvPicPr>
          <p:nvPr/>
        </p:nvPicPr>
        <p:blipFill>
          <a:blip r:embed="rId4"/>
          <a:stretch>
            <a:fillRect/>
          </a:stretch>
        </p:blipFill>
        <p:spPr>
          <a:xfrm>
            <a:off x="681228" y="4201668"/>
            <a:ext cx="265176" cy="265176"/>
          </a:xfrm>
          <a:prstGeom prst="rect">
            <a:avLst/>
          </a:prstGeom>
        </p:spPr>
      </p:pic>
      <p:sp>
        <p:nvSpPr>
          <p:cNvPr id="18" name="Text 12"/>
          <p:cNvSpPr txBox="1"/>
          <p:nvPr/>
        </p:nvSpPr>
        <p:spPr>
          <a:xfrm>
            <a:off x="1280160" y="4050792"/>
            <a:ext cx="4023360" cy="274320"/>
          </a:xfrm>
          <a:prstGeom prst="rect">
            <a:avLst/>
          </a:prstGeom>
          <a:noFill/>
          <a:ln/>
        </p:spPr>
        <p:txBody>
          <a:bodyPr wrap="square" lIns="0" tIns="0" rIns="0" bIns="0" rtlCol="0" anchor="ctr"/>
          <a:lstStyle/>
          <a:p>
            <a:pPr indent="0" marL="0">
              <a:buNone/>
            </a:pPr>
            <a:r>
              <a:rPr lang="en-US" sz="1200" b="1" dirty="0">
                <a:solidFill>
                  <a:srgbClr val="AEB6DE"/>
                </a:solidFill>
                <a:latin typeface="Calibri" pitchFamily="34" charset="0"/>
                <a:ea typeface="Calibri" pitchFamily="34" charset="-122"/>
                <a:cs typeface="Calibri" pitchFamily="34" charset="-120"/>
              </a:rPr>
              <a:t>Duration</a:t>
            </a:r>
            <a:endParaRPr lang="en-US" sz="1200" dirty="0"/>
          </a:p>
        </p:txBody>
      </p:sp>
      <p:sp>
        <p:nvSpPr>
          <p:cNvPr id="19" name="Text 13"/>
          <p:cNvSpPr txBox="1"/>
          <p:nvPr/>
        </p:nvSpPr>
        <p:spPr>
          <a:xfrm>
            <a:off x="1280160" y="4297680"/>
            <a:ext cx="4206240" cy="36576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8 Weeks | April – June 2026</a:t>
            </a:r>
            <a:endParaRPr lang="en-US" sz="1500" dirty="0"/>
          </a:p>
        </p:txBody>
      </p:sp>
      <p:sp>
        <p:nvSpPr>
          <p:cNvPr id="20" name="Shape 14"/>
          <p:cNvSpPr/>
          <p:nvPr/>
        </p:nvSpPr>
        <p:spPr>
          <a:xfrm>
            <a:off x="5532120" y="1005840"/>
            <a:ext cx="6126480" cy="5349240"/>
          </a:xfrm>
          <a:prstGeom prst="roundRect">
            <a:avLst>
              <a:gd name="adj" fmla="val 684"/>
            </a:avLst>
          </a:prstGeom>
          <a:solidFill>
            <a:srgbClr val="FFFFFF"/>
          </a:solidFill>
          <a:ln/>
          <a:effectLst>
            <a:outerShdw sx="100000" sy="100000" kx="0" ky="0" algn="bl" rotWithShape="0" blurRad="127000" dist="38100" dir="5400000">
              <a:srgbClr val="000000">
                <a:alpha val="25000"/>
              </a:srgbClr>
            </a:outerShdw>
          </a:effectLst>
        </p:spPr>
      </p:sp>
      <p:pic>
        <p:nvPicPr>
          <p:cNvPr id="21" name="Image 4" descr="/home/claude/extract/docx_extract/word/media/82bbca3ccd022a8a293cbc3b8ed986ee9d9699f4.jpg">    </p:cNvPr>
          <p:cNvPicPr>
            <a:picLocks noChangeAspect="1"/>
          </p:cNvPicPr>
          <p:nvPr/>
        </p:nvPicPr>
        <p:blipFill>
          <a:blip r:embed="rId5"/>
          <a:stretch>
            <a:fillRect/>
          </a:stretch>
        </p:blipFill>
        <p:spPr>
          <a:xfrm>
            <a:off x="5669280" y="1143000"/>
            <a:ext cx="5852160" cy="5074920"/>
          </a:xfrm>
          <a:prstGeom prst="rect">
            <a:avLst/>
          </a:prstGeom>
        </p:spPr>
      </p:pic>
      <p:sp>
        <p:nvSpPr>
          <p:cNvPr id="22" name="Text 15"/>
          <p:cNvSpPr txBox="1"/>
          <p:nvPr/>
        </p:nvSpPr>
        <p:spPr>
          <a:xfrm>
            <a:off x="457200" y="6446520"/>
            <a:ext cx="7315200" cy="274320"/>
          </a:xfrm>
          <a:prstGeom prst="rect">
            <a:avLst/>
          </a:prstGeom>
          <a:noFill/>
          <a:ln/>
        </p:spPr>
        <p:txBody>
          <a:bodyPr wrap="square" lIns="0" tIns="0" rIns="0" bIns="0" rtlCol="0" anchor="ctr"/>
          <a:lstStyle/>
          <a:p>
            <a:pPr indent="0" marL="0">
              <a:buNone/>
            </a:pPr>
            <a:r>
              <a:rPr lang="en-US" sz="1000" dirty="0">
                <a:solidFill>
                  <a:srgbClr val="AEB6DE"/>
                </a:solidFill>
                <a:latin typeface="Calibri" pitchFamily="34" charset="0"/>
                <a:ea typeface="Calibri" pitchFamily="34" charset="-122"/>
                <a:cs typeface="Calibri" pitchFamily="34" charset="-120"/>
              </a:rPr>
              <a:t>Java Full Stack Developer Internship  •  Ankit Kumar</a:t>
            </a:r>
            <a:endParaRPr lang="en-US" sz="1000" dirty="0"/>
          </a:p>
        </p:txBody>
      </p:sp>
      <p:sp>
        <p:nvSpPr>
          <p:cNvPr id="23" name="Text 16"/>
          <p:cNvSpPr txBox="1"/>
          <p:nvPr/>
        </p:nvSpPr>
        <p:spPr>
          <a:xfrm>
            <a:off x="11277295" y="6446520"/>
            <a:ext cx="457200" cy="274320"/>
          </a:xfrm>
          <a:prstGeom prst="rect">
            <a:avLst/>
          </a:prstGeom>
          <a:noFill/>
          <a:ln/>
        </p:spPr>
        <p:txBody>
          <a:bodyPr wrap="square" lIns="0" tIns="0" rIns="0" bIns="0" rtlCol="0" anchor="ctr"/>
          <a:lstStyle/>
          <a:p>
            <a:pPr algn="r" indent="0" marL="0">
              <a:buNone/>
            </a:pPr>
            <a:r>
              <a:rPr lang="en-US" sz="1000" dirty="0">
                <a:solidFill>
                  <a:srgbClr val="AEB6D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645920" y="-1645920"/>
            <a:ext cx="3840480" cy="3840480"/>
          </a:xfrm>
          <a:prstGeom prst="ellipse">
            <a:avLst/>
          </a:prstGeom>
          <a:solidFill>
            <a:srgbClr val="242E6E"/>
          </a:solidFill>
          <a:ln/>
        </p:spPr>
      </p:sp>
      <p:sp>
        <p:nvSpPr>
          <p:cNvPr id="3" name="Shape 1"/>
          <p:cNvSpPr/>
          <p:nvPr/>
        </p:nvSpPr>
        <p:spPr>
          <a:xfrm>
            <a:off x="10607040" y="4754880"/>
            <a:ext cx="3840480" cy="3840480"/>
          </a:xfrm>
          <a:prstGeom prst="ellipse">
            <a:avLst/>
          </a:prstGeom>
          <a:solidFill>
            <a:srgbClr val="242E6E"/>
          </a:solidFill>
          <a:ln/>
        </p:spPr>
      </p:sp>
      <p:pic>
        <p:nvPicPr>
          <p:cNvPr id="4" name="Image 0" descr="/home/claude/extract/docx_extract/word/media/85e0c69f588ac5387122cb375b3d7dc9872c23e5.png">    </p:cNvPr>
          <p:cNvPicPr>
            <a:picLocks noChangeAspect="1"/>
          </p:cNvPicPr>
          <p:nvPr/>
        </p:nvPicPr>
        <p:blipFill>
          <a:blip r:embed="rId1"/>
          <a:stretch>
            <a:fillRect/>
          </a:stretch>
        </p:blipFill>
        <p:spPr>
          <a:xfrm>
            <a:off x="5730088" y="1371600"/>
            <a:ext cx="731520" cy="731520"/>
          </a:xfrm>
          <a:prstGeom prst="rect">
            <a:avLst/>
          </a:prstGeom>
        </p:spPr>
      </p:pic>
      <p:sp>
        <p:nvSpPr>
          <p:cNvPr id="5" name="Text 2"/>
          <p:cNvSpPr txBox="1"/>
          <p:nvPr/>
        </p:nvSpPr>
        <p:spPr>
          <a:xfrm>
            <a:off x="0" y="2560320"/>
            <a:ext cx="1219169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Bookman Old Style" pitchFamily="34" charset="0"/>
                <a:ea typeface="Bookman Old Style" pitchFamily="34" charset="-122"/>
                <a:cs typeface="Bookman Old Style" pitchFamily="34" charset="-120"/>
              </a:rPr>
              <a:t>Thank You</a:t>
            </a:r>
            <a:endParaRPr lang="en-US" sz="4400" dirty="0"/>
          </a:p>
        </p:txBody>
      </p:sp>
      <p:sp>
        <p:nvSpPr>
          <p:cNvPr id="6" name="Text 3"/>
          <p:cNvSpPr txBox="1"/>
          <p:nvPr/>
        </p:nvSpPr>
        <p:spPr>
          <a:xfrm>
            <a:off x="0" y="3429000"/>
            <a:ext cx="12191695" cy="365760"/>
          </a:xfrm>
          <a:prstGeom prst="rect">
            <a:avLst/>
          </a:prstGeom>
          <a:noFill/>
          <a:ln/>
        </p:spPr>
        <p:txBody>
          <a:bodyPr wrap="square" lIns="0" tIns="0" rIns="0" bIns="0" rtlCol="0" anchor="ctr"/>
          <a:lstStyle/>
          <a:p>
            <a:pPr algn="ctr" indent="0" marL="0">
              <a:buNone/>
            </a:pPr>
            <a:r>
              <a:rPr lang="en-US" sz="1400" dirty="0">
                <a:solidFill>
                  <a:srgbClr val="AEB6DE"/>
                </a:solidFill>
                <a:latin typeface="Calibri" pitchFamily="34" charset="0"/>
                <a:ea typeface="Calibri" pitchFamily="34" charset="-122"/>
                <a:cs typeface="Calibri" pitchFamily="34" charset="-120"/>
              </a:rPr>
              <a:t>Java Full Stack Developer Virtual Internship  |  AICTE – EduSkills Program</a:t>
            </a:r>
            <a:endParaRPr lang="en-US" sz="1400" dirty="0"/>
          </a:p>
        </p:txBody>
      </p:sp>
      <p:sp>
        <p:nvSpPr>
          <p:cNvPr id="7" name="Shape 4"/>
          <p:cNvSpPr/>
          <p:nvPr/>
        </p:nvSpPr>
        <p:spPr>
          <a:xfrm>
            <a:off x="5501488" y="4023360"/>
            <a:ext cx="1188720" cy="0"/>
          </a:xfrm>
          <a:prstGeom prst="line">
            <a:avLst/>
          </a:prstGeom>
          <a:noFill/>
          <a:ln w="25400">
            <a:solidFill>
              <a:srgbClr val="D4A24E"/>
            </a:solidFill>
            <a:prstDash val="solid"/>
          </a:ln>
        </p:spPr>
      </p:sp>
      <p:sp>
        <p:nvSpPr>
          <p:cNvPr id="8" name="Text 5"/>
          <p:cNvSpPr txBox="1"/>
          <p:nvPr/>
        </p:nvSpPr>
        <p:spPr>
          <a:xfrm>
            <a:off x="0" y="4206240"/>
            <a:ext cx="12191695"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Ankit Kumar</a:t>
            </a:r>
            <a:endParaRPr lang="en-US" sz="1600" dirty="0"/>
          </a:p>
        </p:txBody>
      </p:sp>
      <p:sp>
        <p:nvSpPr>
          <p:cNvPr id="9" name="Text 6"/>
          <p:cNvSpPr txBox="1"/>
          <p:nvPr/>
        </p:nvSpPr>
        <p:spPr>
          <a:xfrm>
            <a:off x="0" y="4553712"/>
            <a:ext cx="12191695" cy="365760"/>
          </a:xfrm>
          <a:prstGeom prst="rect">
            <a:avLst/>
          </a:prstGeom>
          <a:noFill/>
          <a:ln/>
        </p:spPr>
        <p:txBody>
          <a:bodyPr wrap="square" lIns="0" tIns="0" rIns="0" bIns="0" rtlCol="0" anchor="ctr"/>
          <a:lstStyle/>
          <a:p>
            <a:pPr algn="ctr" indent="0" marL="0">
              <a:buNone/>
            </a:pPr>
            <a:r>
              <a:rPr lang="en-US" sz="1200" dirty="0">
                <a:solidFill>
                  <a:srgbClr val="AEB6DE"/>
                </a:solidFill>
                <a:latin typeface="Calibri" pitchFamily="34" charset="0"/>
                <a:ea typeface="Calibri" pitchFamily="34" charset="-122"/>
                <a:cs typeface="Calibri" pitchFamily="34" charset="-120"/>
              </a:rPr>
              <a:t>Roll No. 2410031066  |  IILM University, Greater Noida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2026-08-29T19:22:15Z</dcterms:created>
  <dcterms:modified xsi:type="dcterms:W3CDTF">2026-08-29T19:22:15Z</dcterms:modified>
</cp:coreProperties>
</file>